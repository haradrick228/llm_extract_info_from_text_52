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34440"/>
            <a:ext cx="79552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Применение LLM для извлечения</a:t>
            </a:r>
            <a:br/>
            <a:r>
              <a:t>информации из текстов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14600"/>
            <a:ext cx="79552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73737"/>
                </a:solidFill>
              </a:defRPr>
            </a:pPr>
            <a:r>
              <a:t>RAG-ассистент для благотворительного фонда «Вклад в будущее»</a:t>
            </a:r>
          </a:p>
          <a:p>
            <a:pPr>
              <a:spcAft>
                <a:spcPts val="400"/>
              </a:spcAft>
              <a:defRPr sz="1300">
                <a:solidFill>
                  <a:srgbClr val="373737"/>
                </a:solidFill>
              </a:defRPr>
            </a:pPr>
            <a:r>
              <a:t>и исследование лучших комбинаций embedder × reranker на полном корпусе</a:t>
            </a:r>
          </a:p>
          <a:p>
            <a:pPr>
              <a:spcAft>
                <a:spcPts val="400"/>
              </a:spcAft>
              <a:defRPr sz="1300">
                <a:solidFill>
                  <a:srgbClr val="37373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6E6E6E"/>
                </a:solidFill>
              </a:defRPr>
            </a:pPr>
            <a:r>
              <a:t>Годовой проект ВШЭ, направление «Искусственный интеллект»</a:t>
            </a:r>
          </a:p>
          <a:p>
            <a:pPr>
              <a:spcAft>
                <a:spcPts val="400"/>
              </a:spcAft>
              <a:defRPr sz="1400">
                <a:solidFill>
                  <a:srgbClr val="6E6E6E"/>
                </a:solidFill>
              </a:defRPr>
            </a:pPr>
            <a:r>
              <a:t>Серов Арсений Алексеевич · Научный руководитель: Малюшитский Кирилл</a:t>
            </a:r>
          </a:p>
          <a:p>
            <a:pPr>
              <a:spcAft>
                <a:spcPts val="400"/>
              </a:spcAft>
              <a:defRPr sz="1400">
                <a:solidFill>
                  <a:srgbClr val="6E6E6E"/>
                </a:solidFill>
              </a:defRPr>
            </a:pPr>
            <a:r>
              <a:t>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Проблема и 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База знаний благотворительной организации — ответы без ручного поиска по сотням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7955279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Заказчик по смыслу данных — БФ «Вклад в будущее»: методички, программы, курсы и справочные материалы с books.vbudushee.ru.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Проблема: сотруднику, педагогу или родителю сложно быстро найти ответ в разрозненных документах по инклюзивной среде, развитию детей, обучению педагогов и цифровым/ИИ-курсам.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Решение — RAG: поиск релевантных фрагментов в индексе, затем ответ языковой модели строго по найденному контексту.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Цель года — два результата: работающий сервис (Telegram-бот + API) и исследование: какая связка моделей лучше на 61 543 фрагментах и 101 контрольных вопросах.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Сознательно не делали NER и GraphRAG — фокус на качестве поиска, честной оценке и воспроизводимом эксперименте 7×3.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Кому помогает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Типичный сценарий: вопрос обычным языком — ответ по всей базе знаний организации.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7955279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Педагоги и воспитатели — методические пособия, игры, работа с детьми 5–18 лет, в том числе с ОВЗ.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Родители — программы «Развивающая среда», «Школа возможностей», Хрестоматия, практики открытости.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Сотрудники и партнёры фонда — справки о программах, миссии, финансовой грамотности, цифровых и ИИ-инициативах.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Пример вопроса: «Что такое серия образовательных материалов „Школа возможностей“?» — RAG-бот находит фрагменты и формирует связный ответ.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Вопрос вне базы — система честно сообщает, что данных недостаточно (не выдумывает факты).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Данные: что внутри корпуса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973 документов фонда → 61 543 поисковых фрагментов в индексе.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Источник — образовательные материалы фонда: программа «Развивающая среда», серия «Школа возможностей», Хрестоматия по возрастам, методические пособия.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Аудитория материалов: дети 5–18 лет, педагоги, родители, управленцы; темы — инклюзивная среда, личностное развитие, финграмотность, ИИ и цифровые навыки.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После очистки: 907 уникальных текстов, язык в основном русский (90.3%), дубликаты 1.34%.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Нарезка 650 символов с перекрытием 250 — выбрана экспериментом (альтернативные режимы не улучшили метрики).</a:t>
            </a:r>
          </a:p>
        </p:txBody>
      </p:sp>
      <p:pic>
        <p:nvPicPr>
          <p:cNvPr id="6" name="Picture 5" descr="eda_key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72968"/>
            <a:ext cx="3863339" cy="965835"/>
          </a:xfrm>
          <a:prstGeom prst="rect">
            <a:avLst/>
          </a:prstGeom>
        </p:spPr>
      </p:pic>
      <p:pic>
        <p:nvPicPr>
          <p:cNvPr id="7" name="Picture 6" descr="ed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172968"/>
            <a:ext cx="3863339" cy="2392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Архитектура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Поток запроса от пользователя до ответа и логирования.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90472"/>
            <a:ext cx="123444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Пользователь</a:t>
            </a:r>
            <a:br/>
            <a:r>
              <a:t>педагог / родитель /</a:t>
            </a:r>
            <a:br/>
            <a:r>
              <a:t>сотрудник фонда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47088" y="180136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21408" y="1490472"/>
            <a:ext cx="123444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Telegram-бот</a:t>
            </a:r>
            <a:br/>
            <a:r>
              <a:t>REST API :8001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74136" y="180136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48456" y="1490472"/>
            <a:ext cx="123444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RagService</a:t>
            </a:r>
            <a:br/>
            <a:r>
              <a:t>ml_service :8000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01183" y="180136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75504" y="1490472"/>
            <a:ext cx="150876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Chroma + BM25</a:t>
            </a:r>
            <a:br/>
            <a:r>
              <a:t>7 коллекций · 61 543 фраг.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37276" y="2112264"/>
            <a:ext cx="0" cy="384048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48840" y="2496312"/>
            <a:ext cx="141732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Cross-encoder reranker</a:t>
            </a:r>
            <a:br/>
            <a:r>
              <a:t>BGE-v2-m3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80720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58768" y="2496312"/>
            <a:ext cx="141732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LLM</a:t>
            </a:r>
            <a:br/>
            <a:r>
              <a:t>DeepSeek / Ollama / GigaChat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94376" y="280720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68696" y="2496312"/>
            <a:ext cx="141732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PostgreSQL</a:t>
            </a:r>
            <a:br/>
            <a:r>
              <a:t>логи · NPS ·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74136"/>
            <a:ext cx="7955279" cy="53035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Eval (параллельно): скрипты прогона · frozen protocol · 7×3 матрица · fetch_k=40 · JSON-трейсы · HTML-отчёты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9592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6E6E6E"/>
                </a:solidFill>
                <a:latin typeface="Calibri"/>
              </a:defRPr>
            </a:pPr>
            <a:r>
              <a:t>В боте: USER-bge-m3 + BGE reranker, fetch_k=20, top_k=5. В эксперименте: 7 моделей, fetch_k=40, матрица 7×3.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Исследовательская часть: матрица 7×3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Систематическое сравнение лучших open-source связок на полном корпусе.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21 конфигурация: 7 embedding-моделей × 3 cross-encoder reranker, 101 вопросов, 61 543 фрагментов, 2 121 оценка.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Embedder-индексы (отдельная коллекция Chroma на каждую модель):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13432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mpnet (multilingual)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60903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BGE-M3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08376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FRIDA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55848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E5-large-instruct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313432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Jina-embeddings-v3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660903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default_clean (legacy)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08376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USER-bge-m3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76472"/>
            <a:ext cx="7955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Reranker: MiniLM (baseline), BGE-v2-m3, Jina-v3.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Дополнительно исследовали: BM25, hybrid RRF, HyDE, multi-vector BGE-M3, смену режимов чанкования.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Лучший поиск по substring Recall@10: 6.4% (FRIDA или USER-bge-m3 + BGE или Jina reranker).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Этапы: данные и поиск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CP2, CP3, CP5 — от сырья до готовых индексов.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CP2. EDA и подготовка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Обработали 973 файлов фонда, HTML-дашборд, TF-IDF, контроль качества загрузки.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Зафиксировали язык (90.3% RU), дубликаты, проблемные PDF; экспорт чанков для индексации.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67127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CP3. Baseline RAG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Собрали 101 контрольных вопросов с эталонными цитатами из материалов фонда.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Первый прогон mpnet + MiniLM на полной базе: ~2.0% дословного попадания в top-10.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71215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CP5. Улучшение поиска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7 коллекций Chroma, BM25 sidecar, hybrid / HyDE / multi-vector.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Подготовили воспроизводимые прогоны (replay_experiment) для матрицы 7×3.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Этапы: сервис и финальный эксперимент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CP4, CP6, CP7.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CP4. Продукт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Telegram-бот: меню, выбор LLM, feedback, NPS, загрузка материалов, библиотека файлов.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REST API :8001, ml_service :8000, история запросов в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67127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CP6. Финальный эксперимент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Матрица 7×3, frozen protocol, canonical-отчёт и HTML-дашборд.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Максимум поиска: 6.4% substring Recall@10.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71215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CP7. Диагностика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Трейсы на каждый запрос; neg-control 6.4%→3.0%; SQuAD 82.5%.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HTML-отчёт с разбором худших запросов и типами ошибок.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Как оценивали 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Две задачи: нашли ли нужный фрагмент и насколько хорош текст ответа.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7955279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101 контрольных вопросов с эталонными цитатами из материалов фонда.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Главная метрика поиска: эталонная фраза входит в top-10 найденных фрагментов (строгая проверка, близкая к дословному совпадению).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Качество ответа LLM — отдельно: близость к эталонному ответу эксперта (лучший результат 0.66).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Проверка корректности: SQuAD sanity 82.5%; при перемешивании эталонов метрика падает с 6.4% до 3.0%.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~59% вопросов (class A): эталона нет в индексе как подстрока — это потолок данных, не баг одной модели.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Что получилось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Итоги canonical-эксперимента на полной базе (61 543 фрагментов).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90472"/>
          <a:ext cx="795527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777240"/>
                <a:gridCol w="3977639"/>
              </a:tblGrid>
              <a:tr h="329183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Вариант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Поиск, 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Ответ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Зачем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Старт: mpnet + MiniLM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до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Baseline CP3</a:t>
                      </a:r>
                    </a:p>
                  </a:txBody>
                  <a:tcPr anchor="ctr"/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Максимум поиска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0,65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FRIDA / USER-bge + Jina или BGE</a:t>
                      </a:r>
                    </a:p>
                  </a:txBody>
                  <a:tcPr anchor="ctr"/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Production (бот)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0,64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USER-bge-m3 + BGE reranker</a:t>
                      </a:r>
                    </a:p>
                  </a:txBody>
                  <a:tcPr anchor="ctr"/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Лучший текст ответа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0,66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BGE-M3 + BGE reranker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227832"/>
            <a:ext cx="79552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Поиск вырос с 2% до 6.4%. Низкий процент — строгая метрика и сложный корпус (~59% эталонов изначально отсутствуют в индексе).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В боте USER-bge-m3 + BGE (5,4%), а не 6,4%: быстрый индекс, стабильная пара, близость ответа 0,642.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Цифры 64% и 95% на ранних дашбордах — маленький тестовый набор, не полная база.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Скорость ответа и нагрузка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Метрики из HTML-отчётов: полный прогон 101 вопроса и бенчмарк embedder.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81328"/>
          <a:ext cx="79552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286000"/>
                <a:gridCol w="1325880"/>
                <a:gridCol w="310896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232323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232323"/>
                          </a:solidFill>
                        </a:defRPr>
                      </a:pPr>
                      <a:r>
                        <a:t>Конфигурация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232323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232323"/>
                          </a:solidFill>
                        </a:defRPr>
                      </a:pPr>
                      <a:r>
                        <a:t>Значение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Полный ответ (бот)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USER-bge-m3 + BGE + qwen2.5:7b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Среднее / медиана / p95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1.9s / 1.7s / 3.0s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Полный ответ (бот)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101 вопросов, 61 543 фрагмента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Максимум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8.0s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Только embedder (MPS)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USER-bge-m3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encode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0.046s · 1370 MB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Только embedder (MPS)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FRIDA (max recall)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encode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0.204s · 3141 MB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Только embedder (MPS)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encode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323"/>
                          </a:solidFill>
                        </a:defRPr>
                      </a:pPr>
                      <a:r>
                        <a:t>0.127s · 2166 MB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 descr="latency_e2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319272"/>
            <a:ext cx="3886200" cy="214611"/>
          </a:xfrm>
          <a:prstGeom prst="rect">
            <a:avLst/>
          </a:prstGeom>
        </p:spPr>
      </p:pic>
      <p:pic>
        <p:nvPicPr>
          <p:cNvPr id="7" name="Picture 6" descr="latency_embedder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319272"/>
            <a:ext cx="3886200" cy="3345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1264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E6E6E"/>
                </a:solidFill>
                <a:latin typeface="Calibri"/>
              </a:defRPr>
            </a:pPr>
            <a:r>
              <a:t>Источники: rag_gold_101_full.html (e2e) и embedding_benchmark_nagruzka_2026_05.html. USER-bge-m3 в prod — баланс скорости индекса и 5,4% recall.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Лучшие комбинации embedder + reranker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Substring Recall@10 на полном корпусе. Полная таблица 21 ячейка — в HTML-отчёте.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99616"/>
          <a:ext cx="61264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560320"/>
                <a:gridCol w="2286000"/>
                <a:gridCol w="91440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Embedder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Reranker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232323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USER-bge-m3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Jina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6,4%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FRIDA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Jina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6,4%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FRIDA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6,4%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E5-large-instruct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5,9%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Jina-embeddings-v3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5,9%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USER-bge-m3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5,4%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5,4%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mpnet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MiniLM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2,0%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69087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6E6E6E"/>
                </a:solidFill>
                <a:latin typeface="Calibri"/>
              </a:defRPr>
            </a:pPr>
            <a:r>
              <a:t>Подсветка 6,4% — три лучших комбо. Production: USER-bge-m3 + BGE (5,4%) — баланс скорости индекса и качества.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Демонстрация на защите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Живой Telegram-бот и пример ответа.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90472"/>
            <a:ext cx="3657600" cy="2560320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defRPr sz="1100">
                <a:solidFill>
                  <a:srgbClr val="232323"/>
                </a:solidFill>
                <a:latin typeface="Calibri"/>
              </a:defRPr>
            </a:pPr>
            <a:r>
              <a:t>Скрин Telegram-бота</a:t>
            </a:r>
            <a:br/>
            <a:r>
              <a:t>(telegram_demo.png)</a:t>
            </a:r>
            <a:br/>
            <a:br/>
            <a:r>
              <a:t>На защите — живой показ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490472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2323"/>
                </a:solidFill>
                <a:latin typeface="Calibri"/>
              </a:defRPr>
            </a:pPr>
            <a:r>
              <a:t>Вопрос: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Что такое «Школа возможностей»?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232323"/>
                </a:solidFill>
                <a:latin typeface="Calibri"/>
              </a:defRPr>
            </a:pPr>
            <a:r>
              <a:t>Ответ (сокращённо):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Серия образовательных материалов фонда «Вклад в будущее» в рамках программы «Развивающая среда». Готовит детей 5–18 лет к осознанному выбору, вовлекает педагогов и родителей.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232323"/>
                </a:solidFill>
                <a:latin typeface="Calibri"/>
              </a:defRPr>
            </a:pPr>
            <a:r>
              <a:t>Также покажу: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вопрос вне базы → «недостаточно данных»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переключение профиля RAG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HTML-отчёт с ошибками поиска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Главные 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Для фонда: RAG-бот даёт быстрый доступ к знаниям организации — педагог, родитель или сотрудник получает ответ по всей базе, а не по одному PDF.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Для исследования: систематически сравнили 7×3=21 конфигурацию; поиск вырос с 2% до 6.4%; выбрана prod-пара USER-bge-m3 + BGE (5.4%).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Методология честная: ~59% эталонов не в индексе; SQuAD 82.5% и neg-control 6.4%→3.0% подтверждают корректность оценки.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Сданы: Telegram-бот, REST API, frozen eval protocol, canonical HTML-отчёт, воспроизводимые прогоны.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Спасибо за внимание. Готов ответить на вопросы и показать бота.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