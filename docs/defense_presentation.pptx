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2094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1234440"/>
            <a:ext cx="7955279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323"/>
                </a:solidFill>
              </a:defRPr>
            </a:pPr>
            <a:r>
              <a:rPr dirty="0" err="1"/>
              <a:t>Применение</a:t>
            </a:r>
            <a:r>
              <a:rPr dirty="0"/>
              <a:t> LLM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извлечения</a:t>
            </a:r>
            <a:br>
              <a:rPr dirty="0"/>
            </a:br>
            <a:r>
              <a:rPr dirty="0" err="1"/>
              <a:t>информации</a:t>
            </a:r>
            <a:r>
              <a:rPr dirty="0"/>
              <a:t> </a:t>
            </a:r>
            <a:r>
              <a:rPr dirty="0" err="1"/>
              <a:t>из</a:t>
            </a:r>
            <a:r>
              <a:rPr dirty="0"/>
              <a:t> </a:t>
            </a:r>
            <a:r>
              <a:rPr dirty="0" err="1"/>
              <a:t>текстов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94360" y="2514600"/>
            <a:ext cx="7955279" cy="1544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73737"/>
                </a:solidFill>
              </a:defRPr>
            </a:pPr>
            <a:r>
              <a:rPr dirty="0"/>
              <a:t>RAG-</a:t>
            </a:r>
            <a:r>
              <a:rPr dirty="0" err="1"/>
              <a:t>ассистент</a:t>
            </a:r>
            <a:r>
              <a:rPr lang="ru-RU" dirty="0"/>
              <a:t> на примере данных из</a:t>
            </a:r>
            <a:r>
              <a:rPr dirty="0"/>
              <a:t> </a:t>
            </a:r>
            <a:r>
              <a:rPr dirty="0" err="1"/>
              <a:t>благотворительного</a:t>
            </a:r>
            <a:r>
              <a:rPr dirty="0"/>
              <a:t> </a:t>
            </a:r>
            <a:r>
              <a:rPr dirty="0" err="1"/>
              <a:t>фонда</a:t>
            </a:r>
            <a:r>
              <a:rPr dirty="0"/>
              <a:t> «</a:t>
            </a:r>
            <a:r>
              <a:rPr dirty="0" err="1"/>
              <a:t>Вклад</a:t>
            </a:r>
            <a:r>
              <a:rPr dirty="0"/>
              <a:t> в </a:t>
            </a:r>
            <a:r>
              <a:rPr dirty="0" err="1"/>
              <a:t>будущее</a:t>
            </a:r>
            <a:r>
              <a:rPr dirty="0"/>
              <a:t>»</a:t>
            </a:r>
            <a:r>
              <a:rPr lang="ru-RU" dirty="0"/>
              <a:t>. И</a:t>
            </a:r>
            <a:r>
              <a:rPr dirty="0" err="1"/>
              <a:t>сследование</a:t>
            </a:r>
            <a:r>
              <a:rPr dirty="0"/>
              <a:t> </a:t>
            </a:r>
            <a:r>
              <a:rPr dirty="0" err="1"/>
              <a:t>лучших</a:t>
            </a:r>
            <a:r>
              <a:rPr dirty="0"/>
              <a:t> </a:t>
            </a:r>
            <a:r>
              <a:rPr dirty="0" err="1"/>
              <a:t>комбинаций</a:t>
            </a:r>
            <a:r>
              <a:rPr dirty="0"/>
              <a:t> embedder </a:t>
            </a:r>
            <a:r>
              <a:rPr lang="ru-RU" dirty="0"/>
              <a:t>и</a:t>
            </a:r>
            <a:r>
              <a:rPr dirty="0"/>
              <a:t> </a:t>
            </a:r>
            <a:r>
              <a:rPr dirty="0" err="1"/>
              <a:t>reranker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полном</a:t>
            </a:r>
            <a:r>
              <a:rPr dirty="0"/>
              <a:t> </a:t>
            </a:r>
            <a:r>
              <a:rPr dirty="0" err="1"/>
              <a:t>корпусе</a:t>
            </a:r>
            <a:endParaRPr dirty="0"/>
          </a:p>
          <a:p>
            <a:pPr>
              <a:spcAft>
                <a:spcPts val="400"/>
              </a:spcAft>
              <a:defRPr sz="1300">
                <a:solidFill>
                  <a:srgbClr val="373737"/>
                </a:solidFill>
              </a:defRPr>
            </a:pPr>
            <a:endParaRPr dirty="0"/>
          </a:p>
          <a:p>
            <a:pPr>
              <a:spcAft>
                <a:spcPts val="400"/>
              </a:spcAft>
              <a:defRPr sz="1400">
                <a:solidFill>
                  <a:srgbClr val="6E6E6E"/>
                </a:solidFill>
              </a:defRPr>
            </a:pPr>
            <a:r>
              <a:rPr dirty="0" err="1"/>
              <a:t>Годовой</a:t>
            </a:r>
            <a:r>
              <a:rPr dirty="0"/>
              <a:t> </a:t>
            </a:r>
            <a:r>
              <a:rPr dirty="0" err="1"/>
              <a:t>проект</a:t>
            </a:r>
            <a:r>
              <a:rPr dirty="0"/>
              <a:t> ВШЭ, </a:t>
            </a:r>
            <a:r>
              <a:rPr dirty="0" err="1"/>
              <a:t>направление</a:t>
            </a:r>
            <a:r>
              <a:rPr dirty="0"/>
              <a:t> «</a:t>
            </a:r>
            <a:r>
              <a:rPr dirty="0" err="1"/>
              <a:t>Искусственный</a:t>
            </a:r>
            <a:r>
              <a:rPr dirty="0"/>
              <a:t> </a:t>
            </a:r>
            <a:r>
              <a:rPr dirty="0" err="1"/>
              <a:t>интеллект</a:t>
            </a:r>
            <a:r>
              <a:rPr dirty="0"/>
              <a:t>»</a:t>
            </a:r>
          </a:p>
          <a:p>
            <a:pPr>
              <a:spcAft>
                <a:spcPts val="400"/>
              </a:spcAft>
              <a:defRPr sz="1400">
                <a:solidFill>
                  <a:srgbClr val="6E6E6E"/>
                </a:solidFill>
              </a:defRPr>
            </a:pPr>
            <a:r>
              <a:rPr dirty="0"/>
              <a:t>Серов Арсений </a:t>
            </a:r>
            <a:r>
              <a:rPr dirty="0" err="1"/>
              <a:t>Алексеевич</a:t>
            </a:r>
            <a:r>
              <a:rPr dirty="0"/>
              <a:t> · </a:t>
            </a:r>
            <a:r>
              <a:rPr lang="ru-RU" dirty="0"/>
              <a:t>Куратор</a:t>
            </a:r>
            <a:r>
              <a:rPr dirty="0"/>
              <a:t>: </a:t>
            </a:r>
            <a:r>
              <a:rPr dirty="0" err="1"/>
              <a:t>Малюшитский</a:t>
            </a:r>
            <a:r>
              <a:rPr dirty="0"/>
              <a:t> </a:t>
            </a:r>
            <a:r>
              <a:rPr dirty="0" err="1"/>
              <a:t>Кирилл</a:t>
            </a:r>
            <a:endParaRPr dirty="0"/>
          </a:p>
          <a:p>
            <a:pPr>
              <a:spcAft>
                <a:spcPts val="400"/>
              </a:spcAft>
              <a:defRPr sz="1400">
                <a:solidFill>
                  <a:srgbClr val="6E6E6E"/>
                </a:solidFill>
              </a:defRPr>
            </a:pPr>
            <a:r>
              <a:rPr dirty="0"/>
              <a:t>2025–2026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6400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6E6E"/>
                </a:solidFill>
              </a:defRPr>
            </a:pPr>
            <a:r>
              <a:t>Годовой проект ВШЭ 2025–2026 · Серов Арсений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66760" y="6473952"/>
            <a:ext cx="411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7955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32323"/>
                </a:solidFill>
                <a:latin typeface="Calibri"/>
              </a:defRPr>
            </a:pPr>
            <a:r>
              <a:t>Проблема и цель проекта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9536"/>
            <a:ext cx="607506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73737"/>
                </a:solidFill>
                <a:latin typeface="Calibri"/>
              </a:defRPr>
            </a:pPr>
            <a:r>
              <a:rPr dirty="0" err="1"/>
              <a:t>База</a:t>
            </a:r>
            <a:r>
              <a:rPr dirty="0"/>
              <a:t> </a:t>
            </a:r>
            <a:r>
              <a:rPr dirty="0" err="1"/>
              <a:t>знаний</a:t>
            </a:r>
            <a:r>
              <a:rPr dirty="0"/>
              <a:t> </a:t>
            </a:r>
            <a:r>
              <a:rPr dirty="0" err="1"/>
              <a:t>благотворительной</a:t>
            </a:r>
            <a:r>
              <a:rPr dirty="0"/>
              <a:t> </a:t>
            </a:r>
            <a:r>
              <a:rPr dirty="0" err="1"/>
              <a:t>организации</a:t>
            </a:r>
            <a:r>
              <a:rPr dirty="0"/>
              <a:t> </a:t>
            </a:r>
            <a:r>
              <a:rPr lang="ru-RU" dirty="0"/>
              <a:t>-</a:t>
            </a:r>
            <a:r>
              <a:rPr dirty="0"/>
              <a:t> </a:t>
            </a:r>
            <a:r>
              <a:rPr dirty="0" err="1"/>
              <a:t>ответы</a:t>
            </a:r>
            <a:r>
              <a:rPr dirty="0"/>
              <a:t>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ручного</a:t>
            </a:r>
            <a:r>
              <a:rPr dirty="0"/>
              <a:t> </a:t>
            </a:r>
            <a:r>
              <a:rPr dirty="0" err="1"/>
              <a:t>поиска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сотням</a:t>
            </a:r>
            <a:r>
              <a:rPr dirty="0"/>
              <a:t> PDF.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43584"/>
            <a:ext cx="7955279" cy="9144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472184"/>
            <a:ext cx="7955279" cy="3127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300">
                <a:solidFill>
                  <a:srgbClr val="232323"/>
                </a:solidFill>
                <a:latin typeface="Calibri"/>
              </a:defRPr>
            </a:pPr>
            <a:r>
              <a:rPr dirty="0" err="1"/>
              <a:t>Заказчик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смыслу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 </a:t>
            </a:r>
            <a:r>
              <a:rPr lang="ru-RU" dirty="0"/>
              <a:t>-</a:t>
            </a:r>
            <a:r>
              <a:rPr dirty="0"/>
              <a:t> БФ «</a:t>
            </a:r>
            <a:r>
              <a:rPr dirty="0" err="1"/>
              <a:t>Вклад</a:t>
            </a:r>
            <a:r>
              <a:rPr dirty="0"/>
              <a:t> в </a:t>
            </a:r>
            <a:r>
              <a:rPr dirty="0" err="1"/>
              <a:t>будущее</a:t>
            </a:r>
            <a:r>
              <a:rPr dirty="0"/>
              <a:t>»: </a:t>
            </a:r>
            <a:r>
              <a:rPr dirty="0" err="1"/>
              <a:t>методички</a:t>
            </a:r>
            <a:r>
              <a:rPr dirty="0"/>
              <a:t>, </a:t>
            </a:r>
            <a:r>
              <a:rPr dirty="0" err="1"/>
              <a:t>программы</a:t>
            </a:r>
            <a:r>
              <a:rPr dirty="0"/>
              <a:t>, </a:t>
            </a:r>
            <a:r>
              <a:rPr dirty="0" err="1"/>
              <a:t>курсы</a:t>
            </a:r>
            <a:r>
              <a:rPr dirty="0"/>
              <a:t> и </a:t>
            </a:r>
            <a:r>
              <a:rPr dirty="0" err="1"/>
              <a:t>справочные</a:t>
            </a:r>
            <a:r>
              <a:rPr dirty="0"/>
              <a:t> </a:t>
            </a:r>
            <a:r>
              <a:rPr dirty="0" err="1"/>
              <a:t>материалы</a:t>
            </a:r>
            <a:r>
              <a:rPr dirty="0"/>
              <a:t> с books.vbudushee.ru.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00">
                <a:solidFill>
                  <a:srgbClr val="232323"/>
                </a:solidFill>
                <a:latin typeface="Calibri"/>
              </a:defRPr>
            </a:pPr>
            <a:r>
              <a:rPr dirty="0" err="1"/>
              <a:t>Проблема</a:t>
            </a:r>
            <a:r>
              <a:rPr dirty="0"/>
              <a:t>: </a:t>
            </a:r>
            <a:r>
              <a:rPr dirty="0" err="1"/>
              <a:t>сотруднику</a:t>
            </a:r>
            <a:r>
              <a:rPr dirty="0"/>
              <a:t>, </a:t>
            </a:r>
            <a:r>
              <a:rPr dirty="0" err="1"/>
              <a:t>педагогу</a:t>
            </a:r>
            <a:r>
              <a:rPr lang="en-US" dirty="0"/>
              <a:t>,</a:t>
            </a:r>
            <a:r>
              <a:rPr lang="ru-RU" dirty="0"/>
              <a:t> </a:t>
            </a:r>
            <a:r>
              <a:rPr dirty="0" err="1"/>
              <a:t>родителю</a:t>
            </a:r>
            <a:r>
              <a:rPr lang="ru-RU" dirty="0"/>
              <a:t> или посетителю сайта</a:t>
            </a:r>
            <a:r>
              <a:rPr dirty="0"/>
              <a:t> </a:t>
            </a:r>
            <a:r>
              <a:rPr dirty="0" err="1"/>
              <a:t>сложно</a:t>
            </a:r>
            <a:r>
              <a:rPr dirty="0"/>
              <a:t> </a:t>
            </a:r>
            <a:r>
              <a:rPr dirty="0" err="1"/>
              <a:t>быстро</a:t>
            </a:r>
            <a:r>
              <a:rPr dirty="0"/>
              <a:t> </a:t>
            </a:r>
            <a:r>
              <a:rPr dirty="0" err="1"/>
              <a:t>найти</a:t>
            </a:r>
            <a:r>
              <a:rPr dirty="0"/>
              <a:t> </a:t>
            </a:r>
            <a:r>
              <a:rPr dirty="0" err="1"/>
              <a:t>ответ</a:t>
            </a:r>
            <a:r>
              <a:rPr dirty="0"/>
              <a:t> в </a:t>
            </a:r>
            <a:r>
              <a:rPr dirty="0" err="1"/>
              <a:t>разрозненных</a:t>
            </a:r>
            <a:r>
              <a:rPr dirty="0"/>
              <a:t> </a:t>
            </a:r>
            <a:r>
              <a:rPr dirty="0" err="1"/>
              <a:t>документах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инклюзивной</a:t>
            </a:r>
            <a:r>
              <a:rPr dirty="0"/>
              <a:t> </a:t>
            </a:r>
            <a:r>
              <a:rPr dirty="0" err="1"/>
              <a:t>среде</a:t>
            </a:r>
            <a:r>
              <a:rPr dirty="0"/>
              <a:t>, </a:t>
            </a:r>
            <a:r>
              <a:rPr dirty="0" err="1"/>
              <a:t>развитию</a:t>
            </a:r>
            <a:r>
              <a:rPr dirty="0"/>
              <a:t> </a:t>
            </a:r>
            <a:r>
              <a:rPr dirty="0" err="1"/>
              <a:t>детей</a:t>
            </a:r>
            <a:r>
              <a:rPr dirty="0"/>
              <a:t>, </a:t>
            </a:r>
            <a:r>
              <a:rPr dirty="0" err="1"/>
              <a:t>обучению</a:t>
            </a:r>
            <a:r>
              <a:rPr dirty="0"/>
              <a:t> </a:t>
            </a:r>
            <a:r>
              <a:rPr dirty="0" err="1"/>
              <a:t>педагогов</a:t>
            </a:r>
            <a:r>
              <a:rPr dirty="0"/>
              <a:t> и </a:t>
            </a:r>
            <a:r>
              <a:rPr dirty="0" err="1"/>
              <a:t>цифровым</a:t>
            </a:r>
            <a:r>
              <a:rPr dirty="0"/>
              <a:t>/ИИ-</a:t>
            </a:r>
            <a:r>
              <a:rPr dirty="0" err="1"/>
              <a:t>курсам</a:t>
            </a:r>
            <a:r>
              <a:rPr dirty="0"/>
              <a:t>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00">
                <a:solidFill>
                  <a:srgbClr val="232323"/>
                </a:solidFill>
                <a:latin typeface="Calibri"/>
              </a:defRPr>
            </a:pPr>
            <a:r>
              <a:rPr dirty="0" err="1"/>
              <a:t>Решение</a:t>
            </a:r>
            <a:r>
              <a:rPr lang="ru-RU" dirty="0"/>
              <a:t> -</a:t>
            </a:r>
            <a:r>
              <a:rPr dirty="0"/>
              <a:t> RAG: </a:t>
            </a:r>
            <a:r>
              <a:rPr dirty="0" err="1"/>
              <a:t>поиск</a:t>
            </a:r>
            <a:r>
              <a:rPr dirty="0"/>
              <a:t> </a:t>
            </a:r>
            <a:r>
              <a:rPr dirty="0" err="1"/>
              <a:t>релевантных</a:t>
            </a:r>
            <a:r>
              <a:rPr dirty="0"/>
              <a:t> </a:t>
            </a:r>
            <a:r>
              <a:rPr dirty="0" err="1"/>
              <a:t>фрагментов</a:t>
            </a:r>
            <a:r>
              <a:rPr dirty="0"/>
              <a:t> в </a:t>
            </a:r>
            <a:r>
              <a:rPr dirty="0" err="1"/>
              <a:t>индексе</a:t>
            </a:r>
            <a:r>
              <a:rPr dirty="0"/>
              <a:t>, </a:t>
            </a:r>
            <a:r>
              <a:rPr dirty="0" err="1"/>
              <a:t>затем</a:t>
            </a:r>
            <a:r>
              <a:rPr dirty="0"/>
              <a:t> </a:t>
            </a:r>
            <a:r>
              <a:rPr dirty="0" err="1"/>
              <a:t>ответ</a:t>
            </a:r>
            <a:r>
              <a:rPr dirty="0"/>
              <a:t> </a:t>
            </a:r>
            <a:r>
              <a:rPr dirty="0" err="1"/>
              <a:t>языковой</a:t>
            </a:r>
            <a:r>
              <a:rPr dirty="0"/>
              <a:t> </a:t>
            </a:r>
            <a:r>
              <a:rPr dirty="0" err="1"/>
              <a:t>модели</a:t>
            </a:r>
            <a:r>
              <a:rPr dirty="0"/>
              <a:t> </a:t>
            </a:r>
            <a:r>
              <a:rPr dirty="0" err="1"/>
              <a:t>строго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найденному</a:t>
            </a:r>
            <a:r>
              <a:rPr dirty="0"/>
              <a:t> </a:t>
            </a:r>
            <a:r>
              <a:rPr dirty="0" err="1"/>
              <a:t>контексту</a:t>
            </a:r>
            <a:r>
              <a:rPr dirty="0"/>
              <a:t>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00">
                <a:solidFill>
                  <a:srgbClr val="232323"/>
                </a:solidFill>
                <a:latin typeface="Calibri"/>
              </a:defRPr>
            </a:pPr>
            <a:r>
              <a:rPr dirty="0" err="1"/>
              <a:t>Цель</a:t>
            </a:r>
            <a:r>
              <a:rPr dirty="0"/>
              <a:t> </a:t>
            </a:r>
            <a:r>
              <a:rPr dirty="0" err="1"/>
              <a:t>года</a:t>
            </a:r>
            <a:r>
              <a:rPr dirty="0"/>
              <a:t> </a:t>
            </a:r>
            <a:r>
              <a:rPr lang="ru-RU" dirty="0"/>
              <a:t>-</a:t>
            </a:r>
            <a:r>
              <a:rPr dirty="0"/>
              <a:t> </a:t>
            </a:r>
            <a:r>
              <a:rPr dirty="0" err="1"/>
              <a:t>два</a:t>
            </a:r>
            <a:r>
              <a:rPr dirty="0"/>
              <a:t> </a:t>
            </a:r>
            <a:r>
              <a:rPr dirty="0" err="1"/>
              <a:t>результата</a:t>
            </a:r>
            <a:r>
              <a:rPr dirty="0"/>
              <a:t>: </a:t>
            </a:r>
            <a:r>
              <a:rPr dirty="0" err="1"/>
              <a:t>работающий</a:t>
            </a:r>
            <a:r>
              <a:rPr dirty="0"/>
              <a:t> </a:t>
            </a:r>
            <a:r>
              <a:rPr dirty="0" err="1"/>
              <a:t>сервис</a:t>
            </a:r>
            <a:r>
              <a:rPr dirty="0"/>
              <a:t> (Telegram-</a:t>
            </a:r>
            <a:r>
              <a:rPr dirty="0" err="1"/>
              <a:t>бот</a:t>
            </a:r>
            <a:r>
              <a:rPr dirty="0"/>
              <a:t> + API) и </a:t>
            </a:r>
            <a:r>
              <a:rPr dirty="0" err="1"/>
              <a:t>исследование</a:t>
            </a:r>
            <a:r>
              <a:rPr dirty="0"/>
              <a:t>: </a:t>
            </a:r>
            <a:r>
              <a:rPr dirty="0" err="1"/>
              <a:t>какая</a:t>
            </a:r>
            <a:r>
              <a:rPr dirty="0"/>
              <a:t> </a:t>
            </a:r>
            <a:r>
              <a:rPr dirty="0" err="1"/>
              <a:t>связка</a:t>
            </a:r>
            <a:r>
              <a:rPr dirty="0"/>
              <a:t> </a:t>
            </a:r>
            <a:r>
              <a:rPr dirty="0" err="1"/>
              <a:t>моделей</a:t>
            </a:r>
            <a:r>
              <a:rPr dirty="0"/>
              <a:t> </a:t>
            </a:r>
            <a:r>
              <a:rPr dirty="0" err="1"/>
              <a:t>лучше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61 543 </a:t>
            </a:r>
            <a:r>
              <a:rPr dirty="0" err="1"/>
              <a:t>фрагментах</a:t>
            </a:r>
            <a:r>
              <a:rPr dirty="0"/>
              <a:t> и 101 </a:t>
            </a:r>
            <a:r>
              <a:rPr dirty="0" err="1"/>
              <a:t>контрольных</a:t>
            </a:r>
            <a:r>
              <a:rPr dirty="0"/>
              <a:t> </a:t>
            </a:r>
            <a:r>
              <a:rPr dirty="0" err="1"/>
              <a:t>вопросах</a:t>
            </a:r>
            <a:r>
              <a:rPr dirty="0"/>
              <a:t>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00">
                <a:solidFill>
                  <a:srgbClr val="232323"/>
                </a:solidFill>
                <a:latin typeface="Calibri"/>
              </a:defRPr>
            </a:pPr>
            <a:r>
              <a:rPr dirty="0" err="1"/>
              <a:t>Сознательно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делали</a:t>
            </a:r>
            <a:r>
              <a:rPr dirty="0"/>
              <a:t> NER и </a:t>
            </a:r>
            <a:r>
              <a:rPr dirty="0" err="1"/>
              <a:t>GraphRAG</a:t>
            </a:r>
            <a:r>
              <a:rPr dirty="0"/>
              <a:t> </a:t>
            </a:r>
            <a:r>
              <a:rPr lang="ru-RU" dirty="0"/>
              <a:t>-</a:t>
            </a:r>
            <a:r>
              <a:rPr dirty="0"/>
              <a:t> </a:t>
            </a:r>
            <a:r>
              <a:rPr dirty="0" err="1"/>
              <a:t>фокус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качестве</a:t>
            </a:r>
            <a:r>
              <a:rPr dirty="0"/>
              <a:t> </a:t>
            </a:r>
            <a:r>
              <a:rPr dirty="0" err="1"/>
              <a:t>поиска</a:t>
            </a:r>
            <a:r>
              <a:rPr dirty="0"/>
              <a:t>, </a:t>
            </a:r>
            <a:r>
              <a:rPr dirty="0" err="1"/>
              <a:t>честной</a:t>
            </a:r>
            <a:r>
              <a:rPr dirty="0"/>
              <a:t> </a:t>
            </a:r>
            <a:r>
              <a:rPr dirty="0" err="1"/>
              <a:t>оценке</a:t>
            </a:r>
            <a:r>
              <a:rPr dirty="0"/>
              <a:t> и </a:t>
            </a:r>
            <a:r>
              <a:rPr dirty="0" err="1"/>
              <a:t>воспроизводимом</a:t>
            </a:r>
            <a:r>
              <a:rPr dirty="0"/>
              <a:t> </a:t>
            </a:r>
            <a:r>
              <a:rPr dirty="0" err="1"/>
              <a:t>эксперименте</a:t>
            </a:r>
            <a:r>
              <a:rPr dirty="0"/>
              <a:t> 7×3.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6400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6E6E"/>
                </a:solidFill>
              </a:defRPr>
            </a:pPr>
            <a:r>
              <a:t>Годовой проект ВШЭ 2025–2026 · Серов Арсений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6760" y="6473952"/>
            <a:ext cx="411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7955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32323"/>
                </a:solidFill>
                <a:latin typeface="Calibri"/>
              </a:defRPr>
            </a:pPr>
            <a:r>
              <a:t>Кому помогает система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9536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73737"/>
                </a:solidFill>
                <a:latin typeface="Calibri"/>
              </a:defRPr>
            </a:pPr>
            <a:r>
              <a:t>Типичный сценарий: вопрос обычным языком — ответ по всей базе знаний организации.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43584"/>
            <a:ext cx="7955279" cy="9144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472184"/>
            <a:ext cx="7955279" cy="2218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1300">
                <a:solidFill>
                  <a:srgbClr val="232323"/>
                </a:solidFill>
                <a:latin typeface="Calibri"/>
              </a:defRPr>
            </a:pPr>
            <a:r>
              <a:rPr dirty="0" err="1"/>
              <a:t>Педагоги</a:t>
            </a:r>
            <a:r>
              <a:rPr dirty="0"/>
              <a:t> и </a:t>
            </a:r>
            <a:r>
              <a:rPr dirty="0" err="1"/>
              <a:t>воспитатели</a:t>
            </a:r>
            <a:r>
              <a:rPr dirty="0"/>
              <a:t> </a:t>
            </a:r>
            <a:r>
              <a:rPr lang="ru-RU" dirty="0"/>
              <a:t>-</a:t>
            </a:r>
            <a:r>
              <a:rPr dirty="0"/>
              <a:t> </a:t>
            </a:r>
            <a:r>
              <a:rPr dirty="0" err="1"/>
              <a:t>методические</a:t>
            </a:r>
            <a:r>
              <a:rPr dirty="0"/>
              <a:t> </a:t>
            </a:r>
            <a:r>
              <a:rPr dirty="0" err="1"/>
              <a:t>пособия</a:t>
            </a:r>
            <a:r>
              <a:rPr dirty="0"/>
              <a:t>, </a:t>
            </a:r>
            <a:r>
              <a:rPr dirty="0" err="1"/>
              <a:t>игры</a:t>
            </a:r>
            <a:r>
              <a:rPr dirty="0"/>
              <a:t>, </a:t>
            </a:r>
            <a:r>
              <a:rPr dirty="0" err="1"/>
              <a:t>работа</a:t>
            </a:r>
            <a:r>
              <a:rPr dirty="0"/>
              <a:t> с </a:t>
            </a:r>
            <a:r>
              <a:rPr dirty="0" err="1"/>
              <a:t>детьми</a:t>
            </a:r>
            <a:r>
              <a:rPr dirty="0"/>
              <a:t> 5–18 </a:t>
            </a:r>
            <a:r>
              <a:rPr dirty="0" err="1"/>
              <a:t>лет</a:t>
            </a:r>
            <a:r>
              <a:rPr dirty="0"/>
              <a:t>, в </a:t>
            </a:r>
            <a:r>
              <a:rPr dirty="0" err="1"/>
              <a:t>том</a:t>
            </a:r>
            <a:r>
              <a:rPr dirty="0"/>
              <a:t> </a:t>
            </a:r>
            <a:r>
              <a:rPr dirty="0" err="1"/>
              <a:t>числе</a:t>
            </a:r>
            <a:r>
              <a:rPr dirty="0"/>
              <a:t> с ОВЗ.</a:t>
            </a:r>
          </a:p>
          <a:p>
            <a:pPr>
              <a:lnSpc>
                <a:spcPct val="120000"/>
              </a:lnSpc>
              <a:spcAft>
                <a:spcPts val="900"/>
              </a:spcAft>
              <a:defRPr sz="1300">
                <a:solidFill>
                  <a:srgbClr val="232323"/>
                </a:solidFill>
                <a:latin typeface="Calibri"/>
              </a:defRPr>
            </a:pPr>
            <a:r>
              <a:rPr dirty="0" err="1"/>
              <a:t>Родители</a:t>
            </a:r>
            <a:r>
              <a:rPr dirty="0"/>
              <a:t> </a:t>
            </a:r>
            <a:r>
              <a:rPr lang="ru-RU" dirty="0"/>
              <a:t>-</a:t>
            </a:r>
            <a:r>
              <a:rPr dirty="0"/>
              <a:t> </a:t>
            </a:r>
            <a:r>
              <a:rPr dirty="0" err="1"/>
              <a:t>программы</a:t>
            </a:r>
            <a:r>
              <a:rPr dirty="0"/>
              <a:t> «</a:t>
            </a:r>
            <a:r>
              <a:rPr dirty="0" err="1"/>
              <a:t>Развивающая</a:t>
            </a:r>
            <a:r>
              <a:rPr dirty="0"/>
              <a:t> </a:t>
            </a:r>
            <a:r>
              <a:rPr dirty="0" err="1"/>
              <a:t>среда</a:t>
            </a:r>
            <a:r>
              <a:rPr dirty="0"/>
              <a:t>», «</a:t>
            </a:r>
            <a:r>
              <a:rPr dirty="0" err="1"/>
              <a:t>Школа</a:t>
            </a:r>
            <a:r>
              <a:rPr dirty="0"/>
              <a:t> </a:t>
            </a:r>
            <a:r>
              <a:rPr dirty="0" err="1"/>
              <a:t>возможностей</a:t>
            </a:r>
            <a:r>
              <a:rPr dirty="0"/>
              <a:t>», </a:t>
            </a:r>
            <a:r>
              <a:rPr dirty="0" err="1"/>
              <a:t>Хрестоматия</a:t>
            </a:r>
            <a:r>
              <a:rPr dirty="0"/>
              <a:t>, </a:t>
            </a:r>
            <a:r>
              <a:rPr dirty="0" err="1"/>
              <a:t>практики</a:t>
            </a:r>
            <a:r>
              <a:rPr dirty="0"/>
              <a:t> </a:t>
            </a:r>
            <a:r>
              <a:rPr dirty="0" err="1"/>
              <a:t>открытости</a:t>
            </a:r>
            <a:r>
              <a:rPr dirty="0"/>
              <a:t>.</a:t>
            </a:r>
          </a:p>
          <a:p>
            <a:pPr>
              <a:lnSpc>
                <a:spcPct val="120000"/>
              </a:lnSpc>
              <a:spcAft>
                <a:spcPts val="900"/>
              </a:spcAft>
              <a:defRPr sz="1300">
                <a:solidFill>
                  <a:srgbClr val="232323"/>
                </a:solidFill>
                <a:latin typeface="Calibri"/>
              </a:defRPr>
            </a:pPr>
            <a:r>
              <a:rPr dirty="0" err="1"/>
              <a:t>Сотрудники</a:t>
            </a:r>
            <a:r>
              <a:rPr dirty="0"/>
              <a:t> и </a:t>
            </a:r>
            <a:r>
              <a:rPr dirty="0" err="1"/>
              <a:t>партнёры</a:t>
            </a:r>
            <a:r>
              <a:rPr dirty="0"/>
              <a:t> </a:t>
            </a:r>
            <a:r>
              <a:rPr dirty="0" err="1"/>
              <a:t>фонда</a:t>
            </a:r>
            <a:r>
              <a:rPr dirty="0"/>
              <a:t> </a:t>
            </a:r>
            <a:r>
              <a:rPr lang="ru-RU" dirty="0"/>
              <a:t>-</a:t>
            </a:r>
            <a:r>
              <a:rPr dirty="0"/>
              <a:t> </a:t>
            </a:r>
            <a:r>
              <a:rPr dirty="0" err="1"/>
              <a:t>справки</a:t>
            </a:r>
            <a:r>
              <a:rPr dirty="0"/>
              <a:t> о </a:t>
            </a:r>
            <a:r>
              <a:rPr dirty="0" err="1"/>
              <a:t>программах</a:t>
            </a:r>
            <a:r>
              <a:rPr dirty="0"/>
              <a:t>, </a:t>
            </a:r>
            <a:r>
              <a:rPr dirty="0" err="1"/>
              <a:t>миссии</a:t>
            </a:r>
            <a:r>
              <a:rPr dirty="0"/>
              <a:t>, </a:t>
            </a:r>
            <a:r>
              <a:rPr dirty="0" err="1"/>
              <a:t>финансовой</a:t>
            </a:r>
            <a:r>
              <a:rPr dirty="0"/>
              <a:t> </a:t>
            </a:r>
            <a:r>
              <a:rPr dirty="0" err="1"/>
              <a:t>грамотности</a:t>
            </a:r>
            <a:r>
              <a:rPr dirty="0"/>
              <a:t>, </a:t>
            </a:r>
            <a:r>
              <a:rPr dirty="0" err="1"/>
              <a:t>цифровых</a:t>
            </a:r>
            <a:r>
              <a:rPr dirty="0"/>
              <a:t> и ИИ-</a:t>
            </a:r>
            <a:r>
              <a:rPr dirty="0" err="1"/>
              <a:t>инициативах</a:t>
            </a:r>
            <a:r>
              <a:rPr dirty="0"/>
              <a:t>.</a:t>
            </a:r>
          </a:p>
          <a:p>
            <a:pPr>
              <a:lnSpc>
                <a:spcPct val="120000"/>
              </a:lnSpc>
              <a:spcAft>
                <a:spcPts val="900"/>
              </a:spcAft>
              <a:defRPr sz="1300">
                <a:solidFill>
                  <a:srgbClr val="232323"/>
                </a:solidFill>
                <a:latin typeface="Calibri"/>
              </a:defRPr>
            </a:pPr>
            <a:r>
              <a:rPr dirty="0" err="1"/>
              <a:t>Пример</a:t>
            </a:r>
            <a:r>
              <a:rPr dirty="0"/>
              <a:t> </a:t>
            </a:r>
            <a:r>
              <a:rPr dirty="0" err="1"/>
              <a:t>вопроса</a:t>
            </a:r>
            <a:r>
              <a:rPr dirty="0"/>
              <a:t>: «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такое</a:t>
            </a:r>
            <a:r>
              <a:rPr dirty="0"/>
              <a:t> </a:t>
            </a:r>
            <a:r>
              <a:rPr dirty="0" err="1"/>
              <a:t>серия</a:t>
            </a:r>
            <a:r>
              <a:rPr dirty="0"/>
              <a:t> </a:t>
            </a:r>
            <a:r>
              <a:rPr dirty="0" err="1"/>
              <a:t>образовательных</a:t>
            </a:r>
            <a:r>
              <a:rPr dirty="0"/>
              <a:t> </a:t>
            </a:r>
            <a:r>
              <a:rPr dirty="0" err="1"/>
              <a:t>материалов</a:t>
            </a:r>
            <a:r>
              <a:rPr dirty="0"/>
              <a:t> „</a:t>
            </a:r>
            <a:r>
              <a:rPr dirty="0" err="1"/>
              <a:t>Школа</a:t>
            </a:r>
            <a:r>
              <a:rPr dirty="0"/>
              <a:t> </a:t>
            </a:r>
            <a:r>
              <a:rPr dirty="0" err="1"/>
              <a:t>возможностей</a:t>
            </a:r>
            <a:r>
              <a:rPr dirty="0"/>
              <a:t>“?» — RAG-</a:t>
            </a:r>
            <a:r>
              <a:rPr dirty="0" err="1"/>
              <a:t>бот</a:t>
            </a:r>
            <a:r>
              <a:rPr dirty="0"/>
              <a:t> </a:t>
            </a:r>
            <a:r>
              <a:rPr dirty="0" err="1"/>
              <a:t>находит</a:t>
            </a:r>
            <a:r>
              <a:rPr dirty="0"/>
              <a:t> </a:t>
            </a:r>
            <a:r>
              <a:rPr dirty="0" err="1"/>
              <a:t>фрагменты</a:t>
            </a:r>
            <a:r>
              <a:rPr dirty="0"/>
              <a:t> и </a:t>
            </a:r>
            <a:r>
              <a:rPr dirty="0" err="1"/>
              <a:t>формирует</a:t>
            </a:r>
            <a:r>
              <a:rPr dirty="0"/>
              <a:t> </a:t>
            </a:r>
            <a:r>
              <a:rPr dirty="0" err="1"/>
              <a:t>связный</a:t>
            </a:r>
            <a:r>
              <a:rPr dirty="0"/>
              <a:t> </a:t>
            </a:r>
            <a:r>
              <a:rPr dirty="0" err="1"/>
              <a:t>ответ</a:t>
            </a:r>
            <a:r>
              <a:rPr dirty="0"/>
              <a:t>.</a:t>
            </a:r>
          </a:p>
          <a:p>
            <a:pPr>
              <a:lnSpc>
                <a:spcPct val="120000"/>
              </a:lnSpc>
              <a:spcAft>
                <a:spcPts val="900"/>
              </a:spcAft>
              <a:defRPr sz="1300">
                <a:solidFill>
                  <a:srgbClr val="232323"/>
                </a:solidFill>
                <a:latin typeface="Calibri"/>
              </a:defRPr>
            </a:pPr>
            <a:r>
              <a:rPr dirty="0" err="1"/>
              <a:t>Вопрос</a:t>
            </a:r>
            <a:r>
              <a:rPr dirty="0"/>
              <a:t> </a:t>
            </a:r>
            <a:r>
              <a:rPr dirty="0" err="1"/>
              <a:t>вне</a:t>
            </a:r>
            <a:r>
              <a:rPr dirty="0"/>
              <a:t> </a:t>
            </a:r>
            <a:r>
              <a:rPr dirty="0" err="1"/>
              <a:t>базы</a:t>
            </a:r>
            <a:r>
              <a:rPr dirty="0"/>
              <a:t> — </a:t>
            </a:r>
            <a:r>
              <a:rPr dirty="0" err="1"/>
              <a:t>система</a:t>
            </a:r>
            <a:r>
              <a:rPr dirty="0"/>
              <a:t> </a:t>
            </a:r>
            <a:r>
              <a:rPr dirty="0" err="1"/>
              <a:t>честно</a:t>
            </a:r>
            <a:r>
              <a:rPr dirty="0"/>
              <a:t> </a:t>
            </a:r>
            <a:r>
              <a:rPr dirty="0" err="1"/>
              <a:t>сообщает</a:t>
            </a:r>
            <a:r>
              <a:rPr dirty="0"/>
              <a:t>,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 </a:t>
            </a:r>
            <a:r>
              <a:rPr dirty="0" err="1"/>
              <a:t>недостаточно</a:t>
            </a:r>
            <a:r>
              <a:rPr dirty="0"/>
              <a:t> (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выдумывает</a:t>
            </a:r>
            <a:r>
              <a:rPr dirty="0"/>
              <a:t> </a:t>
            </a:r>
            <a:r>
              <a:rPr dirty="0" err="1"/>
              <a:t>факты</a:t>
            </a:r>
            <a:r>
              <a:rPr dirty="0"/>
              <a:t>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6400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6E6E"/>
                </a:solidFill>
              </a:defRPr>
            </a:pPr>
            <a:r>
              <a:t>Годовой проект ВШЭ 2025–2026 · Серов Арсений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6760" y="6473952"/>
            <a:ext cx="411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7955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32323"/>
                </a:solidFill>
                <a:latin typeface="Calibri"/>
              </a:defRPr>
            </a:pPr>
            <a:r>
              <a:t>Данные: что внутри корпуса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9536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73737"/>
                </a:solidFill>
                <a:latin typeface="Calibri"/>
              </a:defRPr>
            </a:pPr>
            <a:r>
              <a:t>973 документов фонда → 61 543 поисковых фрагментов в индексе.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43584"/>
            <a:ext cx="7955279" cy="9144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463039"/>
            <a:ext cx="7955279" cy="1898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  <a:defRPr sz="1200">
                <a:solidFill>
                  <a:srgbClr val="232323"/>
                </a:solidFill>
                <a:latin typeface="Calibri"/>
              </a:defRPr>
            </a:pPr>
            <a:r>
              <a:rPr dirty="0" err="1"/>
              <a:t>Источник</a:t>
            </a:r>
            <a:r>
              <a:rPr dirty="0"/>
              <a:t> </a:t>
            </a:r>
            <a:r>
              <a:rPr lang="ru-RU" dirty="0"/>
              <a:t>-</a:t>
            </a:r>
            <a:r>
              <a:rPr dirty="0"/>
              <a:t> </a:t>
            </a:r>
            <a:r>
              <a:rPr dirty="0" err="1"/>
              <a:t>образовательные</a:t>
            </a:r>
            <a:r>
              <a:rPr dirty="0"/>
              <a:t> </a:t>
            </a:r>
            <a:r>
              <a:rPr dirty="0" err="1"/>
              <a:t>материалы</a:t>
            </a:r>
            <a:r>
              <a:rPr dirty="0"/>
              <a:t> </a:t>
            </a:r>
            <a:r>
              <a:rPr dirty="0" err="1"/>
              <a:t>фонда</a:t>
            </a:r>
            <a:r>
              <a:rPr dirty="0"/>
              <a:t>: </a:t>
            </a:r>
            <a:r>
              <a:rPr dirty="0" err="1"/>
              <a:t>программа</a:t>
            </a:r>
            <a:r>
              <a:rPr dirty="0"/>
              <a:t> «</a:t>
            </a:r>
            <a:r>
              <a:rPr dirty="0" err="1"/>
              <a:t>Развивающая</a:t>
            </a:r>
            <a:r>
              <a:rPr dirty="0"/>
              <a:t> </a:t>
            </a:r>
            <a:r>
              <a:rPr dirty="0" err="1"/>
              <a:t>среда</a:t>
            </a:r>
            <a:r>
              <a:rPr dirty="0"/>
              <a:t>», </a:t>
            </a:r>
            <a:r>
              <a:rPr dirty="0" err="1"/>
              <a:t>серия</a:t>
            </a:r>
            <a:r>
              <a:rPr dirty="0"/>
              <a:t> «</a:t>
            </a:r>
            <a:r>
              <a:rPr dirty="0" err="1"/>
              <a:t>Школа</a:t>
            </a:r>
            <a:r>
              <a:rPr dirty="0"/>
              <a:t> </a:t>
            </a:r>
            <a:r>
              <a:rPr dirty="0" err="1"/>
              <a:t>возможностей</a:t>
            </a:r>
            <a:r>
              <a:rPr dirty="0"/>
              <a:t>», </a:t>
            </a:r>
            <a:r>
              <a:rPr dirty="0" err="1"/>
              <a:t>Хрестоматия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возрастам</a:t>
            </a:r>
            <a:r>
              <a:rPr dirty="0"/>
              <a:t>, </a:t>
            </a:r>
            <a:r>
              <a:rPr dirty="0" err="1"/>
              <a:t>методические</a:t>
            </a:r>
            <a:r>
              <a:rPr dirty="0"/>
              <a:t> </a:t>
            </a:r>
            <a:r>
              <a:rPr dirty="0" err="1"/>
              <a:t>пособия</a:t>
            </a:r>
            <a:r>
              <a:rPr dirty="0"/>
              <a:t>.</a:t>
            </a:r>
          </a:p>
          <a:p>
            <a:pPr>
              <a:lnSpc>
                <a:spcPct val="120000"/>
              </a:lnSpc>
              <a:spcAft>
                <a:spcPts val="700"/>
              </a:spcAft>
              <a:defRPr sz="1200">
                <a:solidFill>
                  <a:srgbClr val="232323"/>
                </a:solidFill>
                <a:latin typeface="Calibri"/>
              </a:defRPr>
            </a:pPr>
            <a:r>
              <a:rPr dirty="0" err="1"/>
              <a:t>Аудитория</a:t>
            </a:r>
            <a:r>
              <a:rPr dirty="0"/>
              <a:t> </a:t>
            </a:r>
            <a:r>
              <a:rPr dirty="0" err="1"/>
              <a:t>материалов</a:t>
            </a:r>
            <a:r>
              <a:rPr dirty="0"/>
              <a:t>: </a:t>
            </a:r>
            <a:r>
              <a:rPr dirty="0" err="1"/>
              <a:t>дети</a:t>
            </a:r>
            <a:r>
              <a:rPr dirty="0"/>
              <a:t> 5–18 </a:t>
            </a:r>
            <a:r>
              <a:rPr dirty="0" err="1"/>
              <a:t>лет</a:t>
            </a:r>
            <a:r>
              <a:rPr dirty="0"/>
              <a:t>, </a:t>
            </a:r>
            <a:r>
              <a:rPr dirty="0" err="1"/>
              <a:t>педагоги</a:t>
            </a:r>
            <a:r>
              <a:rPr dirty="0"/>
              <a:t>, </a:t>
            </a:r>
            <a:r>
              <a:rPr dirty="0" err="1"/>
              <a:t>родители</a:t>
            </a:r>
            <a:r>
              <a:rPr dirty="0"/>
              <a:t>, </a:t>
            </a:r>
            <a:r>
              <a:rPr dirty="0" err="1"/>
              <a:t>управленцы</a:t>
            </a:r>
            <a:r>
              <a:rPr dirty="0"/>
              <a:t>; </a:t>
            </a:r>
            <a:r>
              <a:rPr dirty="0" err="1"/>
              <a:t>темы</a:t>
            </a:r>
            <a:r>
              <a:rPr dirty="0"/>
              <a:t> — </a:t>
            </a:r>
            <a:r>
              <a:rPr dirty="0" err="1"/>
              <a:t>инклюзивная</a:t>
            </a:r>
            <a:r>
              <a:rPr dirty="0"/>
              <a:t> </a:t>
            </a:r>
            <a:r>
              <a:rPr dirty="0" err="1"/>
              <a:t>среда</a:t>
            </a:r>
            <a:r>
              <a:rPr dirty="0"/>
              <a:t>, </a:t>
            </a:r>
            <a:r>
              <a:rPr dirty="0" err="1"/>
              <a:t>личностное</a:t>
            </a:r>
            <a:r>
              <a:rPr dirty="0"/>
              <a:t> </a:t>
            </a:r>
            <a:r>
              <a:rPr dirty="0" err="1"/>
              <a:t>развитие</a:t>
            </a:r>
            <a:r>
              <a:rPr dirty="0"/>
              <a:t>, </a:t>
            </a:r>
            <a:r>
              <a:rPr dirty="0" err="1"/>
              <a:t>финграмотность</a:t>
            </a:r>
            <a:r>
              <a:rPr dirty="0"/>
              <a:t>, ИИ и </a:t>
            </a:r>
            <a:r>
              <a:rPr dirty="0" err="1"/>
              <a:t>цифровые</a:t>
            </a:r>
            <a:r>
              <a:rPr dirty="0"/>
              <a:t> </a:t>
            </a:r>
            <a:r>
              <a:rPr dirty="0" err="1"/>
              <a:t>навыки</a:t>
            </a:r>
            <a:r>
              <a:rPr dirty="0"/>
              <a:t>.</a:t>
            </a:r>
          </a:p>
          <a:p>
            <a:pPr>
              <a:lnSpc>
                <a:spcPct val="120000"/>
              </a:lnSpc>
              <a:spcAft>
                <a:spcPts val="700"/>
              </a:spcAft>
              <a:defRPr sz="1200">
                <a:solidFill>
                  <a:srgbClr val="232323"/>
                </a:solidFill>
                <a:latin typeface="Calibri"/>
              </a:defRPr>
            </a:pP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очистки</a:t>
            </a:r>
            <a:r>
              <a:rPr dirty="0"/>
              <a:t>: 907 </a:t>
            </a:r>
            <a:r>
              <a:rPr dirty="0" err="1"/>
              <a:t>уникальных</a:t>
            </a:r>
            <a:r>
              <a:rPr dirty="0"/>
              <a:t> </a:t>
            </a:r>
            <a:r>
              <a:rPr dirty="0" err="1"/>
              <a:t>текстов</a:t>
            </a:r>
            <a:r>
              <a:rPr dirty="0"/>
              <a:t>, </a:t>
            </a:r>
            <a:r>
              <a:rPr dirty="0" err="1"/>
              <a:t>язык</a:t>
            </a:r>
            <a:r>
              <a:rPr dirty="0"/>
              <a:t> в </a:t>
            </a:r>
            <a:r>
              <a:rPr dirty="0" err="1"/>
              <a:t>основном</a:t>
            </a:r>
            <a:r>
              <a:rPr dirty="0"/>
              <a:t> </a:t>
            </a:r>
            <a:r>
              <a:rPr dirty="0" err="1"/>
              <a:t>русский</a:t>
            </a:r>
            <a:r>
              <a:rPr dirty="0"/>
              <a:t> (90.3%), </a:t>
            </a:r>
            <a:r>
              <a:rPr dirty="0" err="1"/>
              <a:t>дубликаты</a:t>
            </a:r>
            <a:r>
              <a:rPr dirty="0"/>
              <a:t> 1.34%.</a:t>
            </a:r>
          </a:p>
          <a:p>
            <a:pPr>
              <a:lnSpc>
                <a:spcPct val="120000"/>
              </a:lnSpc>
              <a:spcAft>
                <a:spcPts val="700"/>
              </a:spcAft>
              <a:defRPr sz="1200">
                <a:solidFill>
                  <a:srgbClr val="232323"/>
                </a:solidFill>
                <a:latin typeface="Calibri"/>
              </a:defRPr>
            </a:pPr>
            <a:r>
              <a:rPr dirty="0" err="1"/>
              <a:t>Нарезка</a:t>
            </a:r>
            <a:r>
              <a:rPr dirty="0"/>
              <a:t> 650 </a:t>
            </a:r>
            <a:r>
              <a:rPr dirty="0" err="1"/>
              <a:t>символов</a:t>
            </a:r>
            <a:r>
              <a:rPr dirty="0"/>
              <a:t> с </a:t>
            </a:r>
            <a:r>
              <a:rPr dirty="0" err="1"/>
              <a:t>перекрытием</a:t>
            </a:r>
            <a:r>
              <a:rPr dirty="0"/>
              <a:t> 250 — </a:t>
            </a:r>
            <a:r>
              <a:rPr dirty="0" err="1"/>
              <a:t>выбрана</a:t>
            </a:r>
            <a:r>
              <a:rPr dirty="0"/>
              <a:t> </a:t>
            </a:r>
            <a:r>
              <a:rPr dirty="0" err="1"/>
              <a:t>экспериментом</a:t>
            </a:r>
            <a:r>
              <a:rPr dirty="0"/>
              <a:t> (</a:t>
            </a:r>
            <a:r>
              <a:rPr dirty="0" err="1"/>
              <a:t>альтернативные</a:t>
            </a:r>
            <a:r>
              <a:rPr dirty="0"/>
              <a:t> </a:t>
            </a:r>
            <a:r>
              <a:rPr dirty="0" err="1"/>
              <a:t>режимы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улучшили</a:t>
            </a:r>
            <a:r>
              <a:rPr dirty="0"/>
              <a:t> </a:t>
            </a:r>
            <a:r>
              <a:rPr dirty="0" err="1"/>
              <a:t>метрики</a:t>
            </a:r>
            <a:r>
              <a:rPr dirty="0"/>
              <a:t>).</a:t>
            </a:r>
          </a:p>
        </p:txBody>
      </p:sp>
      <p:pic>
        <p:nvPicPr>
          <p:cNvPr id="6" name="Picture 5" descr="eda_key_fig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172968"/>
            <a:ext cx="3863339" cy="965835"/>
          </a:xfrm>
          <a:prstGeom prst="rect">
            <a:avLst/>
          </a:prstGeom>
        </p:spPr>
      </p:pic>
      <p:pic>
        <p:nvPicPr>
          <p:cNvPr id="7" name="Picture 6" descr="eda_qua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6300" y="3172968"/>
            <a:ext cx="3863339" cy="239212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6473952"/>
            <a:ext cx="6400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6E6E"/>
                </a:solidFill>
              </a:defRPr>
            </a:pPr>
            <a:r>
              <a:t>Годовой проект ВШЭ 2025–2026 · Серов Арсений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6473952"/>
            <a:ext cx="411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7955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32323"/>
                </a:solidFill>
                <a:latin typeface="Calibri"/>
              </a:defRPr>
            </a:pPr>
            <a:r>
              <a:t>Архитектура системы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9536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73737"/>
                </a:solidFill>
                <a:latin typeface="Calibri"/>
              </a:defRPr>
            </a:pPr>
            <a:r>
              <a:t>Поток запроса от пользователя до ответа и логирования.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43584"/>
            <a:ext cx="7955279" cy="9144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94360" y="1490472"/>
            <a:ext cx="1234440" cy="621792"/>
          </a:xfrm>
          <a:prstGeom prst="roundRect">
            <a:avLst/>
          </a:prstGeom>
          <a:solidFill>
            <a:srgbClr val="F5F7FC"/>
          </a:solidFill>
          <a:ln w="9525">
            <a:solidFill>
              <a:srgbClr val="B4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>
              <a:defRPr sz="800">
                <a:solidFill>
                  <a:srgbClr val="232323"/>
                </a:solidFill>
                <a:latin typeface="Calibri"/>
              </a:defRPr>
            </a:pPr>
            <a:r>
              <a:t>Пользователь</a:t>
            </a:r>
            <a:br/>
            <a:r>
              <a:t>педагог / родитель /</a:t>
            </a:r>
            <a:br/>
            <a:r>
              <a:t>сотрудник фонда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847088" y="1801368"/>
            <a:ext cx="237744" cy="0"/>
          </a:xfrm>
          <a:prstGeom prst="line">
            <a:avLst/>
          </a:prstGeom>
          <a:ln w="15875">
            <a:solidFill>
              <a:srgbClr val="5A6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121408" y="1490472"/>
            <a:ext cx="1234440" cy="621792"/>
          </a:xfrm>
          <a:prstGeom prst="roundRect">
            <a:avLst/>
          </a:prstGeom>
          <a:solidFill>
            <a:srgbClr val="F5F7FC"/>
          </a:solidFill>
          <a:ln w="9525">
            <a:solidFill>
              <a:srgbClr val="B4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>
              <a:defRPr sz="800">
                <a:solidFill>
                  <a:srgbClr val="232323"/>
                </a:solidFill>
                <a:latin typeface="Calibri"/>
              </a:defRPr>
            </a:pPr>
            <a:r>
              <a:t>Telegram-бот</a:t>
            </a:r>
            <a:br/>
            <a:r>
              <a:t>REST API :8001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374136" y="1801368"/>
            <a:ext cx="237744" cy="0"/>
          </a:xfrm>
          <a:prstGeom prst="line">
            <a:avLst/>
          </a:prstGeom>
          <a:ln w="15875">
            <a:solidFill>
              <a:srgbClr val="5A6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648456" y="1490472"/>
            <a:ext cx="1234440" cy="621792"/>
          </a:xfrm>
          <a:prstGeom prst="roundRect">
            <a:avLst/>
          </a:prstGeom>
          <a:solidFill>
            <a:srgbClr val="F5F7FC"/>
          </a:solidFill>
          <a:ln w="9525">
            <a:solidFill>
              <a:srgbClr val="B4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>
              <a:defRPr sz="800">
                <a:solidFill>
                  <a:srgbClr val="232323"/>
                </a:solidFill>
                <a:latin typeface="Calibri"/>
              </a:defRPr>
            </a:pPr>
            <a:r>
              <a:t>RagService</a:t>
            </a:r>
            <a:br/>
            <a:r>
              <a:t>ml_service :8000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901183" y="1801368"/>
            <a:ext cx="237744" cy="0"/>
          </a:xfrm>
          <a:prstGeom prst="line">
            <a:avLst/>
          </a:prstGeom>
          <a:ln w="15875">
            <a:solidFill>
              <a:srgbClr val="5A6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175504" y="1490472"/>
            <a:ext cx="1508760" cy="621792"/>
          </a:xfrm>
          <a:prstGeom prst="roundRect">
            <a:avLst/>
          </a:prstGeom>
          <a:solidFill>
            <a:srgbClr val="F5F7FC"/>
          </a:solidFill>
          <a:ln w="9525">
            <a:solidFill>
              <a:srgbClr val="B4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>
              <a:defRPr sz="800">
                <a:solidFill>
                  <a:srgbClr val="232323"/>
                </a:solidFill>
                <a:latin typeface="Calibri"/>
              </a:defRPr>
            </a:pPr>
            <a:r>
              <a:t>Chroma + BM25</a:t>
            </a:r>
            <a:br/>
            <a:r>
              <a:t>7 коллекций · 61 543 фраг.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637276" y="2112264"/>
            <a:ext cx="0" cy="384048"/>
          </a:xfrm>
          <a:prstGeom prst="line">
            <a:avLst/>
          </a:prstGeom>
          <a:ln w="15875">
            <a:solidFill>
              <a:srgbClr val="5A6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148840" y="2496312"/>
            <a:ext cx="1417320" cy="621792"/>
          </a:xfrm>
          <a:prstGeom prst="roundRect">
            <a:avLst/>
          </a:prstGeom>
          <a:solidFill>
            <a:srgbClr val="F5F7FC"/>
          </a:solidFill>
          <a:ln w="9525">
            <a:solidFill>
              <a:srgbClr val="B4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>
              <a:defRPr sz="800">
                <a:solidFill>
                  <a:srgbClr val="232323"/>
                </a:solidFill>
                <a:latin typeface="Calibri"/>
              </a:defRPr>
            </a:pPr>
            <a:r>
              <a:t>Cross-encoder reranker</a:t>
            </a:r>
            <a:br/>
            <a:r>
              <a:t>BGE-v2-m3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584448" y="2807208"/>
            <a:ext cx="237744" cy="0"/>
          </a:xfrm>
          <a:prstGeom prst="line">
            <a:avLst/>
          </a:prstGeom>
          <a:ln w="15875">
            <a:solidFill>
              <a:srgbClr val="5A6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858768" y="2496312"/>
            <a:ext cx="1417320" cy="621792"/>
          </a:xfrm>
          <a:prstGeom prst="roundRect">
            <a:avLst/>
          </a:prstGeom>
          <a:solidFill>
            <a:srgbClr val="F5F7FC"/>
          </a:solidFill>
          <a:ln w="9525">
            <a:solidFill>
              <a:srgbClr val="B4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>
              <a:defRPr sz="800">
                <a:solidFill>
                  <a:srgbClr val="232323"/>
                </a:solidFill>
                <a:latin typeface="Calibri"/>
              </a:defRPr>
            </a:pPr>
            <a:r>
              <a:t>LLM</a:t>
            </a:r>
            <a:br/>
            <a:r>
              <a:t>DeepSeek / Ollama / GigaChat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294376" y="2807208"/>
            <a:ext cx="237744" cy="0"/>
          </a:xfrm>
          <a:prstGeom prst="line">
            <a:avLst/>
          </a:prstGeom>
          <a:ln w="15875">
            <a:solidFill>
              <a:srgbClr val="5A6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568696" y="2496312"/>
            <a:ext cx="1417320" cy="621792"/>
          </a:xfrm>
          <a:prstGeom prst="roundRect">
            <a:avLst/>
          </a:prstGeom>
          <a:solidFill>
            <a:srgbClr val="F5F7FC"/>
          </a:solidFill>
          <a:ln w="9525">
            <a:solidFill>
              <a:srgbClr val="B4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>
              <a:defRPr sz="800">
                <a:solidFill>
                  <a:srgbClr val="232323"/>
                </a:solidFill>
                <a:latin typeface="Calibri"/>
              </a:defRPr>
            </a:pPr>
            <a:r>
              <a:t>PostgreSQL</a:t>
            </a:r>
            <a:br/>
            <a:r>
              <a:t>логи · NPS · feedback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374136"/>
            <a:ext cx="7955279" cy="530352"/>
          </a:xfrm>
          <a:prstGeom prst="roundRect">
            <a:avLst/>
          </a:prstGeom>
          <a:solidFill>
            <a:srgbClr val="F5F7FC"/>
          </a:solidFill>
          <a:ln w="9525">
            <a:solidFill>
              <a:srgbClr val="B4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>
              <a:defRPr sz="900">
                <a:solidFill>
                  <a:srgbClr val="232323"/>
                </a:solidFill>
                <a:latin typeface="Calibri"/>
              </a:defRPr>
            </a:pPr>
            <a:r>
              <a:t>Eval (параллельно): скрипты прогона · frozen protocol · 7×3 матрица · fetch_k=40 · JSON-трейсы · HTML-отчёты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995928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defRPr sz="1000">
                <a:solidFill>
                  <a:srgbClr val="6E6E6E"/>
                </a:solidFill>
                <a:latin typeface="Calibri"/>
              </a:defRPr>
            </a:pPr>
            <a:r>
              <a:t>В боте: USER-bge-m3 + BGE reranker, fetch_k=20, top_k=5. В эксперименте: 7 моделей, fetch_k=40, матрица 7×3.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73952"/>
            <a:ext cx="6400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6E6E"/>
                </a:solidFill>
              </a:defRPr>
            </a:pPr>
            <a:r>
              <a:t>Годовой проект ВШЭ 2025–2026 · Серов Арсений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6473952"/>
            <a:ext cx="411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7955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32323"/>
                </a:solidFill>
                <a:latin typeface="Calibri"/>
              </a:defRPr>
            </a:pPr>
            <a:r>
              <a:t>Исследовательская часть: матрица 7×3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9536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73737"/>
                </a:solidFill>
                <a:latin typeface="Calibri"/>
              </a:defRPr>
            </a:pPr>
            <a:r>
              <a:t>Систематическое сравнение лучших open-source связок на полном корпусе.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43584"/>
            <a:ext cx="7955279" cy="9144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463039"/>
            <a:ext cx="7955279" cy="4919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  <a:defRPr sz="1200">
                <a:solidFill>
                  <a:srgbClr val="232323"/>
                </a:solidFill>
                <a:latin typeface="Calibri"/>
              </a:defRPr>
            </a:pPr>
            <a:r>
              <a:t>21 конфигурация: 7 embedding-моделей × 3 cross-encoder reranker, 101 вопросов, 61 543 фрагментов, 2 121 оценка.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00">
                <a:solidFill>
                  <a:srgbClr val="232323"/>
                </a:solidFill>
                <a:latin typeface="Calibri"/>
              </a:defRPr>
            </a:pPr>
            <a:r>
              <a:t>Embedder-индексы (отдельная коллекция Chroma на каждую модель):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313432"/>
            <a:ext cx="3886200" cy="292608"/>
          </a:xfrm>
          <a:prstGeom prst="roundRect">
            <a:avLst/>
          </a:prstGeom>
          <a:solidFill>
            <a:srgbClr val="F5F7FC"/>
          </a:solidFill>
          <a:ln w="9525">
            <a:solidFill>
              <a:srgbClr val="B4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>
              <a:defRPr sz="900">
                <a:solidFill>
                  <a:srgbClr val="232323"/>
                </a:solidFill>
                <a:latin typeface="Calibri"/>
              </a:defRPr>
            </a:pPr>
            <a:r>
              <a:t>• mpnet (multilingual)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660903"/>
            <a:ext cx="3886200" cy="292608"/>
          </a:xfrm>
          <a:prstGeom prst="roundRect">
            <a:avLst/>
          </a:prstGeom>
          <a:solidFill>
            <a:srgbClr val="F5F7FC"/>
          </a:solidFill>
          <a:ln w="9525">
            <a:solidFill>
              <a:srgbClr val="B4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>
              <a:defRPr sz="900">
                <a:solidFill>
                  <a:srgbClr val="232323"/>
                </a:solidFill>
                <a:latin typeface="Calibri"/>
              </a:defRPr>
            </a:pPr>
            <a:r>
              <a:t>• BGE-M3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3008376"/>
            <a:ext cx="3886200" cy="292608"/>
          </a:xfrm>
          <a:prstGeom prst="roundRect">
            <a:avLst/>
          </a:prstGeom>
          <a:solidFill>
            <a:srgbClr val="F5F7FC"/>
          </a:solidFill>
          <a:ln w="9525">
            <a:solidFill>
              <a:srgbClr val="B4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>
              <a:defRPr sz="900">
                <a:solidFill>
                  <a:srgbClr val="232323"/>
                </a:solidFill>
                <a:latin typeface="Calibri"/>
              </a:defRPr>
            </a:pPr>
            <a:r>
              <a:t>• FRIDA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3355848"/>
            <a:ext cx="3886200" cy="292608"/>
          </a:xfrm>
          <a:prstGeom prst="roundRect">
            <a:avLst/>
          </a:prstGeom>
          <a:solidFill>
            <a:srgbClr val="F5F7FC"/>
          </a:solidFill>
          <a:ln w="9525">
            <a:solidFill>
              <a:srgbClr val="B4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>
              <a:defRPr sz="900">
                <a:solidFill>
                  <a:srgbClr val="232323"/>
                </a:solidFill>
                <a:latin typeface="Calibri"/>
              </a:defRPr>
            </a:pPr>
            <a:r>
              <a:t>• E5-large-instruct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2313432"/>
            <a:ext cx="3886200" cy="292608"/>
          </a:xfrm>
          <a:prstGeom prst="roundRect">
            <a:avLst/>
          </a:prstGeom>
          <a:solidFill>
            <a:srgbClr val="F5F7FC"/>
          </a:solidFill>
          <a:ln w="9525">
            <a:solidFill>
              <a:srgbClr val="B4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>
              <a:defRPr sz="900">
                <a:solidFill>
                  <a:srgbClr val="232323"/>
                </a:solidFill>
                <a:latin typeface="Calibri"/>
              </a:defRPr>
            </a:pPr>
            <a:r>
              <a:t>• Jina-embeddings-v3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2660903"/>
            <a:ext cx="3886200" cy="292608"/>
          </a:xfrm>
          <a:prstGeom prst="roundRect">
            <a:avLst/>
          </a:prstGeom>
          <a:solidFill>
            <a:srgbClr val="F5F7FC"/>
          </a:solidFill>
          <a:ln w="9525">
            <a:solidFill>
              <a:srgbClr val="B4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>
              <a:defRPr sz="900">
                <a:solidFill>
                  <a:srgbClr val="232323"/>
                </a:solidFill>
                <a:latin typeface="Calibri"/>
              </a:defRPr>
            </a:pPr>
            <a:r>
              <a:t>• default_clean (legacy)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3008376"/>
            <a:ext cx="3886200" cy="292608"/>
          </a:xfrm>
          <a:prstGeom prst="roundRect">
            <a:avLst/>
          </a:prstGeom>
          <a:solidFill>
            <a:srgbClr val="F5F7FC"/>
          </a:solidFill>
          <a:ln w="9525">
            <a:solidFill>
              <a:srgbClr val="B4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>
              <a:defRPr sz="900">
                <a:solidFill>
                  <a:srgbClr val="232323"/>
                </a:solidFill>
                <a:latin typeface="Calibri"/>
              </a:defRPr>
            </a:pPr>
            <a:r>
              <a:t>• USER-bge-m3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776472"/>
            <a:ext cx="7955279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Reranker: MiniLM (baseline), BGE-v2-m3, Jina-v3.</a:t>
            </a:r>
          </a:p>
          <a:p>
            <a:pPr>
              <a:lnSpc>
                <a:spcPct val="120000"/>
              </a:lnSpc>
              <a:spcAft>
                <a:spcPts val="7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Дополнительно исследовали: BM25, hybrid RRF, HyDE, multi-vector BGE-M3, смену режимов чанкования.</a:t>
            </a:r>
          </a:p>
          <a:p>
            <a:pPr>
              <a:lnSpc>
                <a:spcPct val="120000"/>
              </a:lnSpc>
              <a:spcAft>
                <a:spcPts val="7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Лучший поиск по substring Recall@10: 6.4% (FRIDA или USER-bge-m3 + BGE или Jina reranker).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73952"/>
            <a:ext cx="6400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6E6E"/>
                </a:solidFill>
              </a:defRPr>
            </a:pPr>
            <a:r>
              <a:t>Годовой проект ВШЭ 2025–2026 · Серов Арсений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6473952"/>
            <a:ext cx="411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7955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32323"/>
                </a:solidFill>
                <a:latin typeface="Calibri"/>
              </a:defRPr>
            </a:pPr>
            <a:r>
              <a:t>Этапы: данные и поиск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9536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73737"/>
                </a:solidFill>
                <a:latin typeface="Calibri"/>
              </a:defRPr>
            </a:pPr>
            <a:r>
              <a:t>CP2, CP3, CP5 — от сырья до готовых индексов.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43584"/>
            <a:ext cx="7955279" cy="9144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463039"/>
            <a:ext cx="795527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232323"/>
                </a:solidFill>
                <a:latin typeface="Calibri"/>
              </a:defRPr>
            </a:pPr>
            <a:r>
              <a:t>CP2. EDA и подготовка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Обработали 973 файлов фонда, HTML-дашборд, TF-IDF, контроль качества загрузки.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Зафиксировали язык (90.3% RU), дубликаты, проблемные PDF; экспорт чанков для индексации.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167127"/>
            <a:ext cx="795527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232323"/>
                </a:solidFill>
                <a:latin typeface="Calibri"/>
              </a:defRPr>
            </a:pPr>
            <a:r>
              <a:t>CP3. Baseline RAG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Собрали 101 контрольных вопросов с эталонными цитатами из материалов фонда.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Первый прогон mpnet + MiniLM на полной базе: ~2.0% дословного попадания в top-10.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871215"/>
            <a:ext cx="795527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232323"/>
                </a:solidFill>
                <a:latin typeface="Calibri"/>
              </a:defRPr>
            </a:pPr>
            <a:r>
              <a:t>CP5. Улучшение поиска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7 коллекций Chroma, BM25 sidecar, hybrid / HyDE / multi-vector.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Подготовили воспроизводимые прогоны (replay_experiment) для матрицы 7×3.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6400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6E6E"/>
                </a:solidFill>
              </a:defRPr>
            </a:pPr>
            <a:r>
              <a:t>Годовой проект ВШЭ 2025–2026 · Серов Арсений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6473952"/>
            <a:ext cx="411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7955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32323"/>
                </a:solidFill>
                <a:latin typeface="Calibri"/>
              </a:defRPr>
            </a:pPr>
            <a:r>
              <a:t>Этапы: сервис и финальный эксперимент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9536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73737"/>
                </a:solidFill>
                <a:latin typeface="Calibri"/>
              </a:defRPr>
            </a:pPr>
            <a:r>
              <a:t>CP4, CP6, CP7.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43584"/>
            <a:ext cx="7955279" cy="9144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463039"/>
            <a:ext cx="795527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232323"/>
                </a:solidFill>
                <a:latin typeface="Calibri"/>
              </a:defRPr>
            </a:pPr>
            <a:r>
              <a:t>CP4. Продукт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Telegram-бот: меню, выбор LLM, feedback, NPS, загрузка материалов, библиотека файлов.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REST API :8001, ml_service :8000, история запросов в PostgreSQL.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167127"/>
            <a:ext cx="795527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232323"/>
                </a:solidFill>
                <a:latin typeface="Calibri"/>
              </a:defRPr>
            </a:pPr>
            <a:r>
              <a:t>CP6. Финальный эксперимент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Матрица 7×3, frozen protocol, canonical-отчёт и HTML-дашборд.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Максимум поиска: 6.4% substring Recall@10.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871215"/>
            <a:ext cx="795527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232323"/>
                </a:solidFill>
                <a:latin typeface="Calibri"/>
              </a:defRPr>
            </a:pPr>
            <a:r>
              <a:t>CP7. Диагностика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Трейсы на каждый запрос; neg-control 6.4%→3.0%; SQuAD 82.5%.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HTML-отчёт с разбором худших запросов и типами ошибок.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6400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6E6E"/>
                </a:solidFill>
              </a:defRPr>
            </a:pPr>
            <a:r>
              <a:t>Годовой проект ВШЭ 2025–2026 · Серов Арсений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6473952"/>
            <a:ext cx="411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7955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32323"/>
                </a:solidFill>
                <a:latin typeface="Calibri"/>
              </a:defRPr>
            </a:pPr>
            <a:r>
              <a:t>Как оценивали качество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9536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73737"/>
                </a:solidFill>
                <a:latin typeface="Calibri"/>
              </a:defRPr>
            </a:pPr>
            <a:r>
              <a:t>Две задачи: нашли ли нужный фрагмент и насколько хорош текст ответа.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43584"/>
            <a:ext cx="7955279" cy="9144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472184"/>
            <a:ext cx="7955279" cy="18688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1200">
                <a:solidFill>
                  <a:srgbClr val="232323"/>
                </a:solidFill>
                <a:latin typeface="Calibri"/>
              </a:defRPr>
            </a:pPr>
            <a:r>
              <a:rPr dirty="0"/>
              <a:t>101 </a:t>
            </a:r>
            <a:r>
              <a:rPr dirty="0" err="1"/>
              <a:t>контрольных</a:t>
            </a:r>
            <a:r>
              <a:rPr dirty="0"/>
              <a:t> </a:t>
            </a:r>
            <a:r>
              <a:rPr dirty="0" err="1"/>
              <a:t>вопросов</a:t>
            </a:r>
            <a:r>
              <a:rPr dirty="0"/>
              <a:t> с </a:t>
            </a:r>
            <a:r>
              <a:rPr dirty="0" err="1"/>
              <a:t>эталонными</a:t>
            </a:r>
            <a:r>
              <a:rPr dirty="0"/>
              <a:t> </a:t>
            </a:r>
            <a:r>
              <a:rPr dirty="0" err="1"/>
              <a:t>цитатами</a:t>
            </a:r>
            <a:r>
              <a:rPr dirty="0"/>
              <a:t> </a:t>
            </a:r>
            <a:r>
              <a:rPr dirty="0" err="1"/>
              <a:t>из</a:t>
            </a:r>
            <a:r>
              <a:rPr dirty="0"/>
              <a:t> </a:t>
            </a:r>
            <a:r>
              <a:rPr dirty="0" err="1"/>
              <a:t>материалов</a:t>
            </a:r>
            <a:r>
              <a:rPr dirty="0"/>
              <a:t> </a:t>
            </a:r>
            <a:r>
              <a:rPr dirty="0" err="1"/>
              <a:t>фонда</a:t>
            </a:r>
            <a:r>
              <a:rPr dirty="0"/>
              <a:t>.</a:t>
            </a:r>
          </a:p>
          <a:p>
            <a:pPr>
              <a:lnSpc>
                <a:spcPct val="120000"/>
              </a:lnSpc>
              <a:spcAft>
                <a:spcPts val="900"/>
              </a:spcAft>
              <a:defRPr sz="1200">
                <a:solidFill>
                  <a:srgbClr val="232323"/>
                </a:solidFill>
                <a:latin typeface="Calibri"/>
              </a:defRPr>
            </a:pPr>
            <a:r>
              <a:rPr dirty="0" err="1"/>
              <a:t>Главная</a:t>
            </a:r>
            <a:r>
              <a:rPr dirty="0"/>
              <a:t> </a:t>
            </a:r>
            <a:r>
              <a:rPr dirty="0" err="1"/>
              <a:t>метрика</a:t>
            </a:r>
            <a:r>
              <a:rPr dirty="0"/>
              <a:t> </a:t>
            </a:r>
            <a:r>
              <a:rPr dirty="0" err="1"/>
              <a:t>поиска</a:t>
            </a:r>
            <a:r>
              <a:rPr dirty="0"/>
              <a:t>: </a:t>
            </a:r>
            <a:r>
              <a:rPr dirty="0" err="1"/>
              <a:t>эталонная</a:t>
            </a:r>
            <a:r>
              <a:rPr dirty="0"/>
              <a:t> </a:t>
            </a:r>
            <a:r>
              <a:rPr dirty="0" err="1"/>
              <a:t>фраза</a:t>
            </a:r>
            <a:r>
              <a:rPr dirty="0"/>
              <a:t> </a:t>
            </a:r>
            <a:r>
              <a:rPr dirty="0" err="1"/>
              <a:t>входит</a:t>
            </a:r>
            <a:r>
              <a:rPr dirty="0"/>
              <a:t> в top-10 </a:t>
            </a:r>
            <a:r>
              <a:rPr dirty="0" err="1"/>
              <a:t>найденных</a:t>
            </a:r>
            <a:r>
              <a:rPr dirty="0"/>
              <a:t> </a:t>
            </a:r>
            <a:r>
              <a:rPr dirty="0" err="1"/>
              <a:t>фрагментов</a:t>
            </a:r>
            <a:r>
              <a:rPr dirty="0"/>
              <a:t> (</a:t>
            </a:r>
            <a:r>
              <a:rPr dirty="0" err="1"/>
              <a:t>строгая</a:t>
            </a:r>
            <a:r>
              <a:rPr dirty="0"/>
              <a:t> </a:t>
            </a:r>
            <a:r>
              <a:rPr dirty="0" err="1"/>
              <a:t>проверка</a:t>
            </a:r>
            <a:r>
              <a:rPr dirty="0"/>
              <a:t>, </a:t>
            </a:r>
            <a:r>
              <a:rPr dirty="0" err="1"/>
              <a:t>близкая</a:t>
            </a:r>
            <a:r>
              <a:rPr dirty="0"/>
              <a:t> к </a:t>
            </a:r>
            <a:r>
              <a:rPr dirty="0" err="1"/>
              <a:t>дословному</a:t>
            </a:r>
            <a:r>
              <a:rPr dirty="0"/>
              <a:t> </a:t>
            </a:r>
            <a:r>
              <a:rPr dirty="0" err="1"/>
              <a:t>совпадению</a:t>
            </a:r>
            <a:r>
              <a:rPr dirty="0"/>
              <a:t>).</a:t>
            </a:r>
          </a:p>
          <a:p>
            <a:pPr>
              <a:lnSpc>
                <a:spcPct val="120000"/>
              </a:lnSpc>
              <a:spcAft>
                <a:spcPts val="900"/>
              </a:spcAft>
              <a:defRPr sz="1200">
                <a:solidFill>
                  <a:srgbClr val="232323"/>
                </a:solidFill>
                <a:latin typeface="Calibri"/>
              </a:defRPr>
            </a:pPr>
            <a:r>
              <a:rPr dirty="0" err="1"/>
              <a:t>Качество</a:t>
            </a:r>
            <a:r>
              <a:rPr dirty="0"/>
              <a:t> </a:t>
            </a:r>
            <a:r>
              <a:rPr dirty="0" err="1"/>
              <a:t>ответа</a:t>
            </a:r>
            <a:r>
              <a:rPr dirty="0"/>
              <a:t> LLM </a:t>
            </a:r>
            <a:r>
              <a:rPr lang="ru-RU" dirty="0"/>
              <a:t>-</a:t>
            </a:r>
            <a:r>
              <a:rPr dirty="0"/>
              <a:t> </a:t>
            </a:r>
            <a:r>
              <a:rPr dirty="0" err="1"/>
              <a:t>отдельно</a:t>
            </a:r>
            <a:r>
              <a:rPr dirty="0"/>
              <a:t>: </a:t>
            </a:r>
            <a:r>
              <a:rPr dirty="0" err="1"/>
              <a:t>близость</a:t>
            </a:r>
            <a:r>
              <a:rPr dirty="0"/>
              <a:t> к </a:t>
            </a:r>
            <a:r>
              <a:rPr dirty="0" err="1"/>
              <a:t>эталонному</a:t>
            </a:r>
            <a:r>
              <a:rPr dirty="0"/>
              <a:t> </a:t>
            </a:r>
            <a:r>
              <a:rPr dirty="0" err="1"/>
              <a:t>ответу</a:t>
            </a:r>
            <a:r>
              <a:rPr dirty="0"/>
              <a:t> </a:t>
            </a:r>
            <a:r>
              <a:rPr dirty="0" err="1"/>
              <a:t>эксперта</a:t>
            </a:r>
            <a:r>
              <a:rPr dirty="0"/>
              <a:t> (</a:t>
            </a:r>
            <a:r>
              <a:rPr dirty="0" err="1"/>
              <a:t>лучший</a:t>
            </a:r>
            <a:r>
              <a:rPr dirty="0"/>
              <a:t> </a:t>
            </a:r>
            <a:r>
              <a:rPr dirty="0" err="1"/>
              <a:t>результат</a:t>
            </a:r>
            <a:r>
              <a:rPr dirty="0"/>
              <a:t> 0.66).</a:t>
            </a:r>
          </a:p>
          <a:p>
            <a:pPr>
              <a:lnSpc>
                <a:spcPct val="120000"/>
              </a:lnSpc>
              <a:spcAft>
                <a:spcPts val="900"/>
              </a:spcAft>
              <a:defRPr sz="1200">
                <a:solidFill>
                  <a:srgbClr val="232323"/>
                </a:solidFill>
                <a:latin typeface="Calibri"/>
              </a:defRPr>
            </a:pPr>
            <a:r>
              <a:rPr dirty="0" err="1"/>
              <a:t>Проверка</a:t>
            </a:r>
            <a:r>
              <a:rPr dirty="0"/>
              <a:t> </a:t>
            </a:r>
            <a:r>
              <a:rPr dirty="0" err="1"/>
              <a:t>корректности</a:t>
            </a:r>
            <a:r>
              <a:rPr dirty="0"/>
              <a:t>: </a:t>
            </a:r>
            <a:r>
              <a:rPr dirty="0" err="1"/>
              <a:t>SQuAD</a:t>
            </a:r>
            <a:r>
              <a:rPr dirty="0"/>
              <a:t> sanity 82.5%;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перемешивании</a:t>
            </a:r>
            <a:r>
              <a:rPr dirty="0"/>
              <a:t> </a:t>
            </a:r>
            <a:r>
              <a:rPr dirty="0" err="1"/>
              <a:t>эталонов</a:t>
            </a:r>
            <a:r>
              <a:rPr dirty="0"/>
              <a:t> </a:t>
            </a:r>
            <a:r>
              <a:rPr dirty="0" err="1"/>
              <a:t>метрика</a:t>
            </a:r>
            <a:r>
              <a:rPr dirty="0"/>
              <a:t> </a:t>
            </a:r>
            <a:r>
              <a:rPr dirty="0" err="1"/>
              <a:t>падает</a:t>
            </a:r>
            <a:r>
              <a:rPr dirty="0"/>
              <a:t> с 6.4% </a:t>
            </a:r>
            <a:r>
              <a:rPr dirty="0" err="1"/>
              <a:t>до</a:t>
            </a:r>
            <a:r>
              <a:rPr dirty="0"/>
              <a:t> 3.0%.</a:t>
            </a:r>
          </a:p>
          <a:p>
            <a:pPr>
              <a:lnSpc>
                <a:spcPct val="120000"/>
              </a:lnSpc>
              <a:spcAft>
                <a:spcPts val="900"/>
              </a:spcAft>
              <a:defRPr sz="1200">
                <a:solidFill>
                  <a:srgbClr val="232323"/>
                </a:solidFill>
                <a:latin typeface="Calibri"/>
              </a:defRPr>
            </a:pPr>
            <a:r>
              <a:rPr dirty="0"/>
              <a:t>~59% </a:t>
            </a:r>
            <a:r>
              <a:rPr dirty="0" err="1"/>
              <a:t>вопросов</a:t>
            </a:r>
            <a:r>
              <a:rPr dirty="0"/>
              <a:t> (class A): </a:t>
            </a:r>
            <a:r>
              <a:rPr dirty="0" err="1"/>
              <a:t>эталона</a:t>
            </a:r>
            <a:r>
              <a:rPr dirty="0"/>
              <a:t> </a:t>
            </a:r>
            <a:r>
              <a:rPr dirty="0" err="1"/>
              <a:t>нет</a:t>
            </a:r>
            <a:r>
              <a:rPr dirty="0"/>
              <a:t> в </a:t>
            </a:r>
            <a:r>
              <a:rPr dirty="0" err="1"/>
              <a:t>индексе</a:t>
            </a:r>
            <a:r>
              <a:rPr dirty="0"/>
              <a:t>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подстрока</a:t>
            </a:r>
            <a:r>
              <a:rPr dirty="0"/>
              <a:t> </a:t>
            </a:r>
            <a:r>
              <a:rPr lang="ru-RU" dirty="0"/>
              <a:t>- </a:t>
            </a: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потолок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,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баг</a:t>
            </a:r>
            <a:r>
              <a:rPr dirty="0"/>
              <a:t> </a:t>
            </a:r>
            <a:r>
              <a:rPr dirty="0" err="1"/>
              <a:t>одной</a:t>
            </a:r>
            <a:r>
              <a:rPr dirty="0"/>
              <a:t> </a:t>
            </a:r>
            <a:r>
              <a:rPr dirty="0" err="1"/>
              <a:t>модели</a:t>
            </a:r>
            <a:r>
              <a:rPr dirty="0"/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6400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6E6E"/>
                </a:solidFill>
              </a:defRPr>
            </a:pPr>
            <a:r>
              <a:t>Годовой проект ВШЭ 2025–2026 · Серов Арсений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6760" y="6473952"/>
            <a:ext cx="411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7955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32323"/>
                </a:solidFill>
                <a:latin typeface="Calibri"/>
              </a:defRPr>
            </a:pPr>
            <a:r>
              <a:t>Что получилось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9536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73737"/>
                </a:solidFill>
                <a:latin typeface="Calibri"/>
              </a:defRPr>
            </a:pPr>
            <a:r>
              <a:t>Итоги canonical-эксперимента на полной базе (61 543 фрагментов).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43584"/>
            <a:ext cx="7955279" cy="9144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6907398"/>
              </p:ext>
            </p:extLst>
          </p:nvPr>
        </p:nvGraphicFramePr>
        <p:xfrm>
          <a:off x="594360" y="1490472"/>
          <a:ext cx="7955279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776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3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32323"/>
                          </a:solidFill>
                        </a:defRPr>
                      </a:pPr>
                      <a:r>
                        <a:t>Вариант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32323"/>
                          </a:solidFill>
                        </a:defRPr>
                      </a:pPr>
                      <a:r>
                        <a:t>Поиск, %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32323"/>
                          </a:solidFill>
                        </a:defRPr>
                      </a:pPr>
                      <a:r>
                        <a:t>Ответ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32323"/>
                          </a:solidFill>
                        </a:defRPr>
                      </a:pPr>
                      <a:r>
                        <a:t>Зачем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3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Старт: mpnet + MiniLM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до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rPr lang="ru-RU" dirty="0"/>
                        <a:t>0.58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Baseline CP3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3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Максимум поиска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6.4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0,65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FRIDA / USER-bge + Jina или BGE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3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Production (бот)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5.4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0,64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USER-bge-m3 + BGE reranker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Лучший текст ответа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5,4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0,66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rPr dirty="0"/>
                        <a:t>BGE-M3 + BGE </a:t>
                      </a:r>
                      <a:r>
                        <a:rPr dirty="0" err="1"/>
                        <a:t>reranker</a:t>
                      </a:r>
                      <a:endParaRPr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3227832"/>
            <a:ext cx="7955279" cy="1194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1200">
                <a:solidFill>
                  <a:srgbClr val="232323"/>
                </a:solidFill>
                <a:latin typeface="Calibri"/>
              </a:defRPr>
            </a:pPr>
            <a:r>
              <a:rPr dirty="0" err="1"/>
              <a:t>Поиск</a:t>
            </a:r>
            <a:r>
              <a:rPr dirty="0"/>
              <a:t> </a:t>
            </a:r>
            <a:r>
              <a:rPr dirty="0" err="1"/>
              <a:t>вырос</a:t>
            </a:r>
            <a:r>
              <a:rPr dirty="0"/>
              <a:t> с 2% </a:t>
            </a:r>
            <a:r>
              <a:rPr dirty="0" err="1"/>
              <a:t>до</a:t>
            </a:r>
            <a:r>
              <a:rPr dirty="0"/>
              <a:t> 6.4%. </a:t>
            </a:r>
            <a:r>
              <a:rPr dirty="0" err="1"/>
              <a:t>Низкий</a:t>
            </a:r>
            <a:r>
              <a:rPr dirty="0"/>
              <a:t> </a:t>
            </a:r>
            <a:r>
              <a:rPr dirty="0" err="1"/>
              <a:t>процент</a:t>
            </a:r>
            <a:r>
              <a:rPr dirty="0"/>
              <a:t> </a:t>
            </a:r>
            <a:r>
              <a:rPr lang="ru-RU" dirty="0"/>
              <a:t>-</a:t>
            </a:r>
            <a:r>
              <a:rPr dirty="0"/>
              <a:t> </a:t>
            </a:r>
            <a:r>
              <a:rPr dirty="0" err="1"/>
              <a:t>строгая</a:t>
            </a:r>
            <a:r>
              <a:rPr dirty="0"/>
              <a:t> </a:t>
            </a:r>
            <a:r>
              <a:rPr dirty="0" err="1"/>
              <a:t>метрика</a:t>
            </a:r>
            <a:r>
              <a:rPr dirty="0"/>
              <a:t> и </a:t>
            </a:r>
            <a:r>
              <a:rPr dirty="0" err="1"/>
              <a:t>сложный</a:t>
            </a:r>
            <a:r>
              <a:rPr dirty="0"/>
              <a:t> </a:t>
            </a:r>
            <a:r>
              <a:rPr dirty="0" err="1"/>
              <a:t>корпус</a:t>
            </a:r>
            <a:r>
              <a:rPr dirty="0"/>
              <a:t> (~59% </a:t>
            </a:r>
            <a:r>
              <a:rPr dirty="0" err="1"/>
              <a:t>эталонов</a:t>
            </a:r>
            <a:r>
              <a:rPr dirty="0"/>
              <a:t> </a:t>
            </a:r>
            <a:r>
              <a:rPr dirty="0" err="1"/>
              <a:t>изначально</a:t>
            </a:r>
            <a:r>
              <a:rPr dirty="0"/>
              <a:t> </a:t>
            </a:r>
            <a:r>
              <a:rPr dirty="0" err="1"/>
              <a:t>отсутствуют</a:t>
            </a:r>
            <a:r>
              <a:rPr dirty="0"/>
              <a:t> в </a:t>
            </a:r>
            <a:r>
              <a:rPr dirty="0" err="1"/>
              <a:t>индексе</a:t>
            </a:r>
            <a:r>
              <a:rPr dirty="0"/>
              <a:t>).</a:t>
            </a:r>
          </a:p>
          <a:p>
            <a:pPr>
              <a:lnSpc>
                <a:spcPct val="120000"/>
              </a:lnSpc>
              <a:spcAft>
                <a:spcPts val="900"/>
              </a:spcAft>
              <a:defRPr sz="1200">
                <a:solidFill>
                  <a:srgbClr val="232323"/>
                </a:solidFill>
                <a:latin typeface="Calibri"/>
              </a:defRPr>
            </a:pPr>
            <a:r>
              <a:rPr dirty="0"/>
              <a:t>В </a:t>
            </a:r>
            <a:r>
              <a:rPr dirty="0" err="1"/>
              <a:t>боте</a:t>
            </a:r>
            <a:r>
              <a:rPr dirty="0"/>
              <a:t> USER-bge-m3 + BGE (5,4%), а </a:t>
            </a:r>
            <a:r>
              <a:rPr dirty="0" err="1"/>
              <a:t>не</a:t>
            </a:r>
            <a:r>
              <a:rPr dirty="0"/>
              <a:t> 6,4%: </a:t>
            </a:r>
            <a:r>
              <a:rPr dirty="0" err="1"/>
              <a:t>быстрый</a:t>
            </a:r>
            <a:r>
              <a:rPr dirty="0"/>
              <a:t> </a:t>
            </a:r>
            <a:r>
              <a:rPr dirty="0" err="1"/>
              <a:t>индекс</a:t>
            </a:r>
            <a:r>
              <a:rPr dirty="0"/>
              <a:t>, </a:t>
            </a:r>
            <a:r>
              <a:rPr dirty="0" err="1"/>
              <a:t>стабильная</a:t>
            </a:r>
            <a:r>
              <a:rPr dirty="0"/>
              <a:t> </a:t>
            </a:r>
            <a:r>
              <a:rPr dirty="0" err="1"/>
              <a:t>пара</a:t>
            </a:r>
            <a:r>
              <a:rPr dirty="0"/>
              <a:t>, </a:t>
            </a:r>
            <a:r>
              <a:rPr dirty="0" err="1"/>
              <a:t>близость</a:t>
            </a:r>
            <a:r>
              <a:rPr dirty="0"/>
              <a:t> </a:t>
            </a:r>
            <a:r>
              <a:rPr dirty="0" err="1"/>
              <a:t>ответа</a:t>
            </a:r>
            <a:r>
              <a:rPr dirty="0"/>
              <a:t> 0,642.</a:t>
            </a:r>
          </a:p>
          <a:p>
            <a:pPr>
              <a:lnSpc>
                <a:spcPct val="120000"/>
              </a:lnSpc>
              <a:spcAft>
                <a:spcPts val="900"/>
              </a:spcAft>
              <a:defRPr sz="1200">
                <a:solidFill>
                  <a:srgbClr val="232323"/>
                </a:solidFill>
                <a:latin typeface="Calibri"/>
              </a:defRPr>
            </a:pPr>
            <a:r>
              <a:rPr dirty="0" err="1"/>
              <a:t>Цифры</a:t>
            </a:r>
            <a:r>
              <a:rPr dirty="0"/>
              <a:t> 64% и 95%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ранних</a:t>
            </a:r>
            <a:r>
              <a:rPr dirty="0"/>
              <a:t> </a:t>
            </a:r>
            <a:r>
              <a:rPr dirty="0" err="1"/>
              <a:t>дашбордах</a:t>
            </a:r>
            <a:r>
              <a:rPr dirty="0"/>
              <a:t> </a:t>
            </a:r>
            <a:r>
              <a:rPr lang="ru-RU" dirty="0"/>
              <a:t>-</a:t>
            </a:r>
            <a:r>
              <a:rPr dirty="0"/>
              <a:t> </a:t>
            </a:r>
            <a:r>
              <a:rPr dirty="0" err="1"/>
              <a:t>маленький</a:t>
            </a:r>
            <a:r>
              <a:rPr dirty="0"/>
              <a:t> </a:t>
            </a:r>
            <a:r>
              <a:rPr dirty="0" err="1"/>
              <a:t>тестовый</a:t>
            </a:r>
            <a:r>
              <a:rPr dirty="0"/>
              <a:t> </a:t>
            </a:r>
            <a:r>
              <a:rPr dirty="0" err="1"/>
              <a:t>набор</a:t>
            </a:r>
            <a:r>
              <a:rPr dirty="0"/>
              <a:t>,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полная</a:t>
            </a:r>
            <a:r>
              <a:rPr dirty="0"/>
              <a:t> </a:t>
            </a:r>
            <a:r>
              <a:rPr dirty="0" err="1"/>
              <a:t>база</a:t>
            </a:r>
            <a:r>
              <a:rPr dirty="0"/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6400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6E6E"/>
                </a:solidFill>
              </a:defRPr>
            </a:pPr>
            <a:r>
              <a:t>Годовой проект ВШЭ 2025–2026 · Серов Арсений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6760" y="6473952"/>
            <a:ext cx="411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7955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32323"/>
                </a:solidFill>
                <a:latin typeface="Calibri"/>
              </a:defRPr>
            </a:pPr>
            <a:r>
              <a:t>Лучшие комбинации embedder + reranker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9536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73737"/>
                </a:solidFill>
                <a:latin typeface="Calibri"/>
              </a:defRPr>
            </a:pPr>
            <a:r>
              <a:t>Substring Recall@10 на полном корпусе. Полная таблица 21 ячейка — в HTML-отчёте.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43584"/>
            <a:ext cx="7955279" cy="9144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499616"/>
          <a:ext cx="6126480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32323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32323"/>
                          </a:solidFill>
                        </a:defRPr>
                      </a:pPr>
                      <a:r>
                        <a:t>Embedder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32323"/>
                          </a:solidFill>
                        </a:defRPr>
                      </a:pPr>
                      <a:r>
                        <a:t>Reranker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32323"/>
                          </a:solidFill>
                        </a:defRPr>
                      </a:pPr>
                      <a:r>
                        <a:t>Recall@10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USER-bge-m3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Jina reranker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6,4%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FRIDA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Jina reranker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6,4%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FRIDA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BGE reranker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6,4%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E5-large-instruct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BGE reranker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5,9%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Jina-embeddings-v3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BGE reranker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5,9%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USER-bge-m3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BGE reranker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5,4%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BGE-M3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BGE reranker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5,4%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mpnet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MiniLM (baseline)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2,0%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4690872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defRPr sz="1000">
                <a:solidFill>
                  <a:srgbClr val="6E6E6E"/>
                </a:solidFill>
                <a:latin typeface="Calibri"/>
              </a:defRPr>
            </a:pPr>
            <a:r>
              <a:t>Подсветка 6,4% — три лучших комбо. Production: USER-bge-m3 + BGE (5,4%) — баланс скорости индекса и качества.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6400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6E6E"/>
                </a:solidFill>
              </a:defRPr>
            </a:pPr>
            <a:r>
              <a:t>Годовой проект ВШЭ 2025–2026 · Серов Арсений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6760" y="6473952"/>
            <a:ext cx="411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7955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32323"/>
                </a:solidFill>
                <a:latin typeface="Calibri"/>
              </a:defRPr>
            </a:pPr>
            <a:r>
              <a:t>Демонстрация на защите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9536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73737"/>
                </a:solidFill>
                <a:latin typeface="Calibri"/>
              </a:defRPr>
            </a:pPr>
            <a:r>
              <a:t>Живой Telegram-бот и пример ответа.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43584"/>
            <a:ext cx="7955279" cy="9144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369822"/>
            <a:ext cx="40233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232323"/>
                </a:solidFill>
                <a:latin typeface="Calibri"/>
              </a:defRPr>
            </a:pPr>
            <a:r>
              <a:rPr dirty="0" err="1"/>
              <a:t>Вопрос</a:t>
            </a:r>
            <a:r>
              <a:rPr dirty="0"/>
              <a:t>:</a:t>
            </a:r>
          </a:p>
          <a:p>
            <a:pPr>
              <a:spcAft>
                <a:spcPts val="300"/>
              </a:spcAft>
              <a:defRPr sz="1100" b="0">
                <a:solidFill>
                  <a:srgbClr val="232323"/>
                </a:solidFill>
                <a:latin typeface="Calibri"/>
              </a:defRPr>
            </a:pP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такое</a:t>
            </a:r>
            <a:r>
              <a:rPr dirty="0"/>
              <a:t> «</a:t>
            </a:r>
            <a:r>
              <a:rPr dirty="0" err="1"/>
              <a:t>Школа</a:t>
            </a:r>
            <a:r>
              <a:rPr dirty="0"/>
              <a:t> </a:t>
            </a:r>
            <a:r>
              <a:rPr dirty="0" err="1"/>
              <a:t>возможностей</a:t>
            </a:r>
            <a:r>
              <a:rPr dirty="0"/>
              <a:t>»?</a:t>
            </a:r>
          </a:p>
          <a:p>
            <a:pPr>
              <a:spcAft>
                <a:spcPts val="300"/>
              </a:spcAft>
              <a:defRPr sz="1100" b="0">
                <a:solidFill>
                  <a:srgbClr val="232323"/>
                </a:solidFill>
                <a:latin typeface="Calibri"/>
              </a:defRPr>
            </a:pPr>
            <a:endParaRPr dirty="0"/>
          </a:p>
          <a:p>
            <a:pPr>
              <a:spcAft>
                <a:spcPts val="300"/>
              </a:spcAft>
              <a:defRPr sz="1100" b="1">
                <a:solidFill>
                  <a:srgbClr val="232323"/>
                </a:solidFill>
                <a:latin typeface="Calibri"/>
              </a:defRPr>
            </a:pPr>
            <a:r>
              <a:rPr dirty="0" err="1"/>
              <a:t>Ответ</a:t>
            </a:r>
            <a:r>
              <a:rPr dirty="0"/>
              <a:t> (</a:t>
            </a:r>
            <a:r>
              <a:rPr dirty="0" err="1"/>
              <a:t>сокращённо</a:t>
            </a:r>
            <a:r>
              <a:rPr dirty="0"/>
              <a:t>):</a:t>
            </a:r>
          </a:p>
          <a:p>
            <a:pPr>
              <a:spcAft>
                <a:spcPts val="300"/>
              </a:spcAft>
              <a:defRPr sz="1100" b="0">
                <a:solidFill>
                  <a:srgbClr val="232323"/>
                </a:solidFill>
                <a:latin typeface="Calibri"/>
              </a:defRPr>
            </a:pPr>
            <a:r>
              <a:rPr dirty="0" err="1"/>
              <a:t>Серия</a:t>
            </a:r>
            <a:r>
              <a:rPr dirty="0"/>
              <a:t> </a:t>
            </a:r>
            <a:r>
              <a:rPr dirty="0" err="1"/>
              <a:t>образовательных</a:t>
            </a:r>
            <a:r>
              <a:rPr dirty="0"/>
              <a:t> </a:t>
            </a:r>
            <a:r>
              <a:rPr dirty="0" err="1"/>
              <a:t>материалов</a:t>
            </a:r>
            <a:r>
              <a:rPr dirty="0"/>
              <a:t> </a:t>
            </a:r>
            <a:r>
              <a:rPr dirty="0" err="1"/>
              <a:t>фонда</a:t>
            </a:r>
            <a:r>
              <a:rPr dirty="0"/>
              <a:t> «</a:t>
            </a:r>
            <a:r>
              <a:rPr dirty="0" err="1"/>
              <a:t>Вклад</a:t>
            </a:r>
            <a:r>
              <a:rPr dirty="0"/>
              <a:t> в </a:t>
            </a:r>
            <a:r>
              <a:rPr dirty="0" err="1"/>
              <a:t>будущее</a:t>
            </a:r>
            <a:r>
              <a:rPr dirty="0"/>
              <a:t>» в </a:t>
            </a:r>
            <a:r>
              <a:rPr dirty="0" err="1"/>
              <a:t>рамках</a:t>
            </a:r>
            <a:r>
              <a:rPr dirty="0"/>
              <a:t> </a:t>
            </a:r>
            <a:r>
              <a:rPr dirty="0" err="1"/>
              <a:t>программы</a:t>
            </a:r>
            <a:r>
              <a:rPr dirty="0"/>
              <a:t> «</a:t>
            </a:r>
            <a:r>
              <a:rPr dirty="0" err="1"/>
              <a:t>Развивающая</a:t>
            </a:r>
            <a:r>
              <a:rPr dirty="0"/>
              <a:t> </a:t>
            </a:r>
            <a:r>
              <a:rPr dirty="0" err="1"/>
              <a:t>среда</a:t>
            </a:r>
            <a:r>
              <a:rPr dirty="0"/>
              <a:t>». </a:t>
            </a:r>
            <a:r>
              <a:rPr dirty="0" err="1"/>
              <a:t>Готовит</a:t>
            </a:r>
            <a:r>
              <a:rPr dirty="0"/>
              <a:t> </a:t>
            </a:r>
            <a:r>
              <a:rPr dirty="0" err="1"/>
              <a:t>детей</a:t>
            </a:r>
            <a:r>
              <a:rPr dirty="0"/>
              <a:t> 5–18 </a:t>
            </a:r>
            <a:r>
              <a:rPr dirty="0" err="1"/>
              <a:t>лет</a:t>
            </a:r>
            <a:r>
              <a:rPr dirty="0"/>
              <a:t> к </a:t>
            </a:r>
            <a:r>
              <a:rPr dirty="0" err="1"/>
              <a:t>осознанному</a:t>
            </a:r>
            <a:r>
              <a:rPr dirty="0"/>
              <a:t> </a:t>
            </a:r>
            <a:r>
              <a:rPr dirty="0" err="1"/>
              <a:t>выбору</a:t>
            </a:r>
            <a:r>
              <a:rPr dirty="0"/>
              <a:t>, </a:t>
            </a:r>
            <a:r>
              <a:rPr dirty="0" err="1"/>
              <a:t>вовлекает</a:t>
            </a:r>
            <a:r>
              <a:rPr dirty="0"/>
              <a:t> </a:t>
            </a:r>
            <a:r>
              <a:rPr dirty="0" err="1"/>
              <a:t>педагогов</a:t>
            </a:r>
            <a:r>
              <a:rPr dirty="0"/>
              <a:t> и </a:t>
            </a:r>
            <a:r>
              <a:rPr dirty="0" err="1"/>
              <a:t>родителей</a:t>
            </a:r>
            <a:r>
              <a:rPr dirty="0"/>
              <a:t>.</a:t>
            </a:r>
          </a:p>
          <a:p>
            <a:pPr>
              <a:spcAft>
                <a:spcPts val="300"/>
              </a:spcAft>
              <a:defRPr sz="1100" b="0">
                <a:solidFill>
                  <a:srgbClr val="232323"/>
                </a:solidFill>
                <a:latin typeface="Calibri"/>
              </a:defRPr>
            </a:pPr>
            <a:endParaRPr dirty="0"/>
          </a:p>
          <a:p>
            <a:pPr>
              <a:spcAft>
                <a:spcPts val="300"/>
              </a:spcAft>
              <a:defRPr sz="1100" b="1">
                <a:solidFill>
                  <a:srgbClr val="232323"/>
                </a:solidFill>
                <a:latin typeface="Calibri"/>
              </a:defRPr>
            </a:pPr>
            <a:r>
              <a:rPr dirty="0" err="1"/>
              <a:t>Также</a:t>
            </a:r>
            <a:r>
              <a:rPr dirty="0"/>
              <a:t> </a:t>
            </a:r>
            <a:r>
              <a:rPr dirty="0" err="1"/>
              <a:t>покажу</a:t>
            </a:r>
            <a:r>
              <a:rPr dirty="0"/>
              <a:t>:</a:t>
            </a:r>
          </a:p>
          <a:p>
            <a:pPr>
              <a:spcAft>
                <a:spcPts val="300"/>
              </a:spcAft>
              <a:defRPr sz="1100" b="0">
                <a:solidFill>
                  <a:srgbClr val="232323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вопрос</a:t>
            </a:r>
            <a:r>
              <a:rPr dirty="0"/>
              <a:t> </a:t>
            </a:r>
            <a:r>
              <a:rPr dirty="0" err="1"/>
              <a:t>вне</a:t>
            </a:r>
            <a:r>
              <a:rPr dirty="0"/>
              <a:t> </a:t>
            </a:r>
            <a:r>
              <a:rPr dirty="0" err="1"/>
              <a:t>базы</a:t>
            </a:r>
            <a:r>
              <a:rPr dirty="0"/>
              <a:t> → «</a:t>
            </a:r>
            <a:r>
              <a:rPr dirty="0" err="1"/>
              <a:t>недостаточно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»</a:t>
            </a:r>
          </a:p>
          <a:p>
            <a:pPr>
              <a:spcAft>
                <a:spcPts val="300"/>
              </a:spcAft>
              <a:defRPr sz="1100" b="0">
                <a:solidFill>
                  <a:srgbClr val="232323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переключение</a:t>
            </a:r>
            <a:r>
              <a:rPr dirty="0"/>
              <a:t> </a:t>
            </a:r>
            <a:r>
              <a:rPr dirty="0" err="1"/>
              <a:t>профиля</a:t>
            </a:r>
            <a:r>
              <a:rPr dirty="0"/>
              <a:t> RAG</a:t>
            </a:r>
          </a:p>
          <a:p>
            <a:pPr>
              <a:spcAft>
                <a:spcPts val="300"/>
              </a:spcAft>
              <a:defRPr sz="1100" b="0">
                <a:solidFill>
                  <a:srgbClr val="232323"/>
                </a:solidFill>
                <a:latin typeface="Calibri"/>
              </a:defRPr>
            </a:pPr>
            <a:r>
              <a:rPr dirty="0"/>
              <a:t>• HTML-</a:t>
            </a:r>
            <a:r>
              <a:rPr dirty="0" err="1"/>
              <a:t>отчёт</a:t>
            </a:r>
            <a:r>
              <a:rPr dirty="0"/>
              <a:t> с </a:t>
            </a:r>
            <a:r>
              <a:rPr dirty="0" err="1"/>
              <a:t>ошибками</a:t>
            </a:r>
            <a:r>
              <a:rPr dirty="0"/>
              <a:t> </a:t>
            </a:r>
            <a:r>
              <a:rPr dirty="0" err="1"/>
              <a:t>поиска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6400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6E6E"/>
                </a:solidFill>
              </a:defRPr>
            </a:pPr>
            <a:r>
              <a:t>Годовой проект ВШЭ 2025–2026 · Серов Арсений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6760" y="6473952"/>
            <a:ext cx="411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7955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32323"/>
                </a:solidFill>
                <a:latin typeface="Calibri"/>
              </a:defRPr>
            </a:pPr>
            <a:r>
              <a:t>Главные выводы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59536"/>
            <a:ext cx="7955279" cy="9144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7955279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  <a:defRPr sz="1300">
                <a:solidFill>
                  <a:srgbClr val="232323"/>
                </a:solidFill>
                <a:latin typeface="Calibri"/>
              </a:defRPr>
            </a:pPr>
            <a:r>
              <a:t>Для фонда: RAG-бот даёт быстрый доступ к знаниям организации — педагог, родитель или сотрудник получает ответ по всей базе, а не по одному PDF.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300">
                <a:solidFill>
                  <a:srgbClr val="232323"/>
                </a:solidFill>
                <a:latin typeface="Calibri"/>
              </a:defRPr>
            </a:pPr>
            <a:r>
              <a:t>Для исследования: систематически сравнили 7×3=21 конфигурацию; поиск вырос с 2% до 6.4%; выбрана prod-пара USER-bge-m3 + BGE (5.4%).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300">
                <a:solidFill>
                  <a:srgbClr val="232323"/>
                </a:solidFill>
                <a:latin typeface="Calibri"/>
              </a:defRPr>
            </a:pPr>
            <a:r>
              <a:t>Методология честная: ~59% эталонов не в индексе; SQuAD 82.5% и neg-control 6.4%→3.0% подтверждают корректность оценки.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300">
                <a:solidFill>
                  <a:srgbClr val="232323"/>
                </a:solidFill>
                <a:latin typeface="Calibri"/>
              </a:defRPr>
            </a:pPr>
            <a:r>
              <a:t>Сданы: Telegram-бот, REST API, frozen eval protocol, canonical HTML-отчёт, воспроизводимые прогоны.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989320"/>
            <a:ext cx="7955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E6E6E"/>
                </a:solidFill>
              </a:defRPr>
            </a:pPr>
            <a:r>
              <a:t>Спасибо за внимание. Готов ответить на вопросы и показать бота.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6400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6E6E"/>
                </a:solidFill>
              </a:defRPr>
            </a:pPr>
            <a:r>
              <a:t>Годовой проект ВШЭ 2025–2026 · Серов Арсений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6760" y="6473952"/>
            <a:ext cx="411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1453</Words>
  <Application>Microsoft Office PowerPoint</Application>
  <PresentationFormat>Экран (4:3)</PresentationFormat>
  <Paragraphs>188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Арсений Серов</cp:lastModifiedBy>
  <cp:revision>2</cp:revision>
  <dcterms:created xsi:type="dcterms:W3CDTF">2013-01-27T09:14:16Z</dcterms:created>
  <dcterms:modified xsi:type="dcterms:W3CDTF">2026-06-13T16:07:58Z</dcterms:modified>
  <cp:category/>
</cp:coreProperties>
</file>